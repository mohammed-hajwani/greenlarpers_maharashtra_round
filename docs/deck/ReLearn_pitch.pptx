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dd557f8-3490-318b-fc3d-4ea848d320bd}">
          <p14:sldIdLst>
            <p14:sldId id="256"/>
          </p14:sldIdLst>
        </p14:section>
        <p14:section name="Problem and solution" id="{350ec5e7-e894-5922-791b-8ece54054202}">
          <p14:sldIdLst>
            <p14:sldId id="257"/>
            <p14:sldId id="258"/>
            <p14:sldId id="259"/>
          </p14:sldIdLst>
        </p14:section>
        <p14:section name="System" id="{3697dab0-5340-24bb-26ed-c255ef44bfea}">
          <p14:sldIdLst>
            <p14:sldId id="260"/>
            <p14:sldId id="261"/>
          </p14:sldIdLst>
        </p14:section>
        <p14:section name="Results" id="{1b347de3-2859-72e7-c17a-354d9e25aa32}">
          <p14:sldIdLst>
            <p14:sldId id="262"/>
            <p14:sldId id="263"/>
            <p14:sldId id="264"/>
            <p14:sldId id="265"/>
            <p14:sldId id="266"/>
          </p14:sldIdLst>
        </p14:section>
        <p14:section name="Close" id="{fd2337e4-e8fe-32aa-7388-8e3f6f61db5b}">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4F2FF"/>
                </a:solidFill>
                <a:latin typeface="+mn-lt"/>
              </a:defRPr>
            </a:pPr>
            <a:r>
              <a:rPr sz="1400" b="0" i="0" u="none" strike="noStrike">
                <a:solidFill>
                  <a:srgbClr val="F4F2FF"/>
                </a:solidFill>
                <a:latin typeface="+mn-lt"/>
              </a:rPr>
              <a:t>Macro-F1, model only (13 classes)</a:t>
            </a:r>
          </a:p>
        </c:rich>
      </c:tx>
      <c:layout/>
      <c:overlay val="0"/>
    </c:title>
    <c:autoTitleDeleted val="0"/>
    <c:plotArea>
      <c:layout/>
      <c:barChart>
        <c:barDir val="col"/>
        <c:grouping val="clustered"/>
        <c:varyColors val="0"/>
        <c:ser>
          <c:idx val="0"/>
          <c:order val="0"/>
          <c:tx>
            <c:strRef>
              <c:f>Sheet1!$B$1</c:f>
              <c:strCache>
                <c:ptCount val="1"/>
                <c:pt idx="0">
                  <c:v>TF-IDF baseline</c:v>
                </c:pt>
              </c:strCache>
            </c:strRef>
          </c:tx>
          <c:spPr>
            <a:solidFill>
              <a:srgbClr val="8A84A6"/>
            </a:solidFill>
            <a:effectLst/>
          </c:spPr>
          <c:invertIfNegative val="0"/>
          <c:dLbls>
            <c:numFmt formatCode="0.00" sourceLinked="0"/>
            <c:txPr>
              <a:bodyPr/>
              <a:lstStyle/>
              <a:p>
                <a:pPr>
                  <a:defRPr b="0" i="0" strike="noStrike" sz="1200" u="none">
                    <a:solidFill>
                      <a:srgbClr val="F4F2FF"/>
                    </a:solidFill>
                    <a:latin typeface="+mn-lt"/>
                  </a:defRPr>
                </a:pPr>
              </a:p>
            </c:txPr>
            <c:showLegendKey val="0"/>
            <c:showVal val="1"/>
            <c:showCatName val="0"/>
            <c:showSerName val="0"/>
            <c:showPercent val="0"/>
            <c:showBubbleSize val="0"/>
            <c:showLeaderLines val="0"/>
          </c:dLbls>
          <c:cat>
            <c:multiLvlStrRef>
              <c:f>Sheet1!$A$2:$A$3</c:f>
              <c:multiLvlStrCache>
                <c:ptCount val="2"/>
                <c:lvl>
                  <c:pt idx="0">
                    <c:v>Unseen templates (synthetic)</c:v>
                  </c:pt>
                  <c:pt idx="1">
                    <c:v>Hand-written answers</c:v>
                  </c:pt>
                </c:lvl>
              </c:multiLvlStrCache>
            </c:multiLvlStrRef>
          </c:cat>
          <c:val>
            <c:numRef>
              <c:f>Sheet1!$B$2:$B$3</c:f>
              <c:numCache>
                <c:formatCode>General</c:formatCode>
                <c:ptCount val="2"/>
                <c:pt idx="0">
                  <c:v>0.6830297543239582</c:v>
                </c:pt>
                <c:pt idx="1">
                  <c:v>0.775010175010175</c:v>
                </c:pt>
              </c:numCache>
            </c:numRef>
          </c:val>
        </c:ser>
        <c:ser>
          <c:idx val="1"/>
          <c:order val="1"/>
          <c:tx>
            <c:strRef>
              <c:f>Sheet1!$C$1</c:f>
              <c:strCache>
                <c:ptCount val="1"/>
                <c:pt idx="0">
                  <c:v>MiniLM hybrid (v1)</c:v>
                </c:pt>
              </c:strCache>
            </c:strRef>
          </c:tx>
          <c:spPr>
            <a:solidFill>
              <a:srgbClr val="7C5CFF"/>
            </a:solidFill>
            <a:effectLst/>
          </c:spPr>
          <c:invertIfNegative val="0"/>
          <c:dLbls>
            <c:numFmt formatCode="0.00" sourceLinked="0"/>
            <c:txPr>
              <a:bodyPr/>
              <a:lstStyle/>
              <a:p>
                <a:pPr>
                  <a:defRPr b="0" i="0" strike="noStrike" sz="1200" u="none">
                    <a:solidFill>
                      <a:srgbClr val="F4F2FF"/>
                    </a:solidFill>
                    <a:latin typeface="+mn-lt"/>
                  </a:defRPr>
                </a:pPr>
              </a:p>
            </c:txPr>
            <c:showLegendKey val="0"/>
            <c:showVal val="1"/>
            <c:showCatName val="0"/>
            <c:showSerName val="0"/>
            <c:showPercent val="0"/>
            <c:showBubbleSize val="0"/>
            <c:showLeaderLines val="0"/>
          </c:dLbls>
          <c:cat>
            <c:multiLvlStrRef>
              <c:f>Sheet1!$A$2:$A$3</c:f>
              <c:multiLvlStrCache>
                <c:ptCount val="2"/>
                <c:lvl>
                  <c:pt idx="0">
                    <c:v>Unseen templates (synthetic)</c:v>
                  </c:pt>
                  <c:pt idx="1">
                    <c:v>Hand-written answers</c:v>
                  </c:pt>
                </c:lvl>
              </c:multiLvlStrCache>
            </c:multiLvlStrRef>
          </c:cat>
          <c:val>
            <c:numRef>
              <c:f>Sheet1!$C$2:$C$3</c:f>
              <c:numCache>
                <c:formatCode>General</c:formatCode>
                <c:ptCount val="2"/>
                <c:pt idx="0">
                  <c:v>0.6324173642514925</c:v>
                </c:pt>
                <c:pt idx="1">
                  <c:v>0.8310744810744812</c:v>
                </c:pt>
              </c:numCache>
            </c:numRef>
          </c:val>
        </c:ser>
        <c:dLbls>
          <c:numFmt formatCode="0.00" sourceLinked="0"/>
          <c:txPr>
            <a:bodyPr/>
            <a:lstStyle/>
            <a:p>
              <a:pPr>
                <a:defRPr b="0" i="0" strike="noStrike" sz="1200" u="none">
                  <a:solidFill>
                    <a:srgbClr val="F4F2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E2A45"/>
            </a:solidFill>
            <a:prstDash val="solid"/>
            <a:round/>
          </a:ln>
        </c:spPr>
        <c:txPr>
          <a:bodyPr/>
          <a:lstStyle/>
          <a:p>
            <a:pPr>
              <a:defRPr sz="1200" b="0" i="0" u="none" strike="noStrike">
                <a:solidFill>
                  <a:srgbClr val="B9B3D1"/>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2E2A4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8A84A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B9B3D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4F2FF"/>
                </a:solidFill>
                <a:latin typeface="+mn-lt"/>
              </a:defRPr>
            </a:pPr>
            <a:r>
              <a:rPr sz="1400" b="0" i="0" u="none" strike="noStrike">
                <a:solidFill>
                  <a:srgbClr val="F4F2FF"/>
                </a:solidFill>
                <a:latin typeface="+mn-lt"/>
              </a:rPr>
              <a:t>Accuracy on look-alike misconceptions (v1, 5 seeds)</a:t>
            </a:r>
          </a:p>
        </c:rich>
      </c:tx>
      <c:layout/>
      <c:overlay val="0"/>
    </c:title>
    <c:autoTitleDeleted val="0"/>
    <c:plotArea>
      <c:layout/>
      <c:barChart>
        <c:barDir val="col"/>
        <c:grouping val="clustered"/>
        <c:varyColors val="0"/>
        <c:ser>
          <c:idx val="0"/>
          <c:order val="0"/>
          <c:tx>
            <c:strRef>
              <c:f>Sheet1!$B$1</c:f>
              <c:strCache>
                <c:ptCount val="1"/>
                <c:pt idx="0">
                  <c:v>Validation</c:v>
                </c:pt>
              </c:strCache>
            </c:strRef>
          </c:tx>
          <c:spPr>
            <a:solidFill>
              <a:srgbClr val="8A84A6"/>
            </a:solidFill>
            <a:effectLst/>
          </c:spPr>
          <c:invertIfNegative val="0"/>
          <c:dLbls>
            <c:numFmt formatCode="0.00" sourceLinked="0"/>
            <c:txPr>
              <a:bodyPr/>
              <a:lstStyle/>
              <a:p>
                <a:pPr>
                  <a:defRPr b="0" i="0" strike="noStrike" sz="1200" u="none">
                    <a:solidFill>
                      <a:srgbClr val="F4F2FF"/>
                    </a:solidFill>
                    <a:latin typeface="+mn-lt"/>
                  </a:defRPr>
                </a:pPr>
              </a:p>
            </c:txPr>
            <c:showLegendKey val="0"/>
            <c:showVal val="1"/>
            <c:showCatName val="0"/>
            <c:showSerName val="0"/>
            <c:showPercent val="0"/>
            <c:showBubbleSize val="0"/>
            <c:showLeaderLines val="0"/>
          </c:dLbls>
          <c:cat>
            <c:multiLvlStrRef>
              <c:f>Sheet1!$A$2:$A$4</c:f>
              <c:multiLvlStrCache>
                <c:ptCount val="3"/>
                <c:lvl>
                  <c:pt idx="0">
                    <c:v>No quick check</c:v>
                  </c:pt>
                  <c:pt idx="1">
                    <c:v>Random quick check</c:v>
                  </c:pt>
                  <c:pt idx="2">
                    <c:v>Information-gain quick check</c:v>
                  </c:pt>
                </c:lvl>
              </c:multiLvlStrCache>
            </c:multiLvlStrRef>
          </c:cat>
          <c:val>
            <c:numRef>
              <c:f>Sheet1!$B$2:$B$4</c:f>
              <c:numCache>
                <c:formatCode>General</c:formatCode>
                <c:ptCount val="3"/>
                <c:pt idx="0">
                  <c:v>0.628125</c:v>
                </c:pt>
                <c:pt idx="1">
                  <c:v>0.83125</c:v>
                </c:pt>
                <c:pt idx="2">
                  <c:v>0.875625</c:v>
                </c:pt>
              </c:numCache>
            </c:numRef>
          </c:val>
        </c:ser>
        <c:ser>
          <c:idx val="1"/>
          <c:order val="1"/>
          <c:tx>
            <c:strRef>
              <c:f>Sheet1!$C$1</c:f>
              <c:strCache>
                <c:ptCount val="1"/>
                <c:pt idx="0">
                  <c:v>Test</c:v>
                </c:pt>
              </c:strCache>
            </c:strRef>
          </c:tx>
          <c:spPr>
            <a:solidFill>
              <a:srgbClr val="7C5CFF"/>
            </a:solidFill>
            <a:effectLst/>
          </c:spPr>
          <c:invertIfNegative val="0"/>
          <c:dLbls>
            <c:numFmt formatCode="0.00" sourceLinked="0"/>
            <c:txPr>
              <a:bodyPr/>
              <a:lstStyle/>
              <a:p>
                <a:pPr>
                  <a:defRPr b="0" i="0" strike="noStrike" sz="1200" u="none">
                    <a:solidFill>
                      <a:srgbClr val="F4F2FF"/>
                    </a:solidFill>
                    <a:latin typeface="+mn-lt"/>
                  </a:defRPr>
                </a:pPr>
              </a:p>
            </c:txPr>
            <c:showLegendKey val="0"/>
            <c:showVal val="1"/>
            <c:showCatName val="0"/>
            <c:showSerName val="0"/>
            <c:showPercent val="0"/>
            <c:showBubbleSize val="0"/>
            <c:showLeaderLines val="0"/>
          </c:dLbls>
          <c:cat>
            <c:multiLvlStrRef>
              <c:f>Sheet1!$A$2:$A$4</c:f>
              <c:multiLvlStrCache>
                <c:ptCount val="3"/>
                <c:lvl>
                  <c:pt idx="0">
                    <c:v>No quick check</c:v>
                  </c:pt>
                  <c:pt idx="1">
                    <c:v>Random quick check</c:v>
                  </c:pt>
                  <c:pt idx="2">
                    <c:v>Information-gain quick check</c:v>
                  </c:pt>
                </c:lvl>
              </c:multiLvlStrCache>
            </c:multiLvlStrRef>
          </c:cat>
          <c:val>
            <c:numRef>
              <c:f>Sheet1!$C$2:$C$4</c:f>
              <c:numCache>
                <c:formatCode>General</c:formatCode>
                <c:ptCount val="3"/>
                <c:pt idx="0">
                  <c:v>0.7259615384615384</c:v>
                </c:pt>
                <c:pt idx="1">
                  <c:v>0.8552884615384615</c:v>
                </c:pt>
                <c:pt idx="2">
                  <c:v>0.8860576923076923</c:v>
                </c:pt>
              </c:numCache>
            </c:numRef>
          </c:val>
        </c:ser>
        <c:dLbls>
          <c:numFmt formatCode="0.00" sourceLinked="0"/>
          <c:txPr>
            <a:bodyPr/>
            <a:lstStyle/>
            <a:p>
              <a:pPr>
                <a:defRPr b="0" i="0" strike="noStrike" sz="1200" u="none">
                  <a:solidFill>
                    <a:srgbClr val="F4F2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E2A45"/>
            </a:solidFill>
            <a:prstDash val="solid"/>
            <a:round/>
          </a:ln>
        </c:spPr>
        <c:txPr>
          <a:bodyPr/>
          <a:lstStyle/>
          <a:p>
            <a:pPr>
              <a:defRPr sz="1200" b="0" i="0" u="none" strike="noStrike">
                <a:solidFill>
                  <a:srgbClr val="B9B3D1"/>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2E2A4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8A84A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B9B3D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4F2FF"/>
                </a:solidFill>
                <a:latin typeface="+mn-lt"/>
              </a:defRPr>
            </a:pPr>
            <a:r>
              <a:rPr sz="1400" b="0" i="0" u="none" strike="noStrike">
                <a:solidFill>
                  <a:srgbClr val="F4F2FF"/>
                </a:solidFill>
                <a:latin typeface="+mn-lt"/>
              </a:rPr>
              <a:t>Test AUROC for each misconception when left out of training</a:t>
            </a:r>
          </a:p>
        </c:rich>
      </c:tx>
      <c:layout/>
      <c:overlay val="0"/>
    </c:title>
    <c:autoTitleDeleted val="0"/>
    <c:plotArea>
      <c:layout/>
      <c:barChart>
        <c:barDir val="col"/>
        <c:grouping val="clustered"/>
        <c:varyColors val="0"/>
        <c:ser>
          <c:idx val="0"/>
          <c:order val="0"/>
          <c:tx>
            <c:strRef>
              <c:f>Sheet1!$B$1</c:f>
              <c:strCache>
                <c:ptCount val="1"/>
                <c:pt idx="0">
                  <c:v>AUROC</c:v>
                </c:pt>
              </c:strCache>
            </c:strRef>
          </c:tx>
          <c:spPr>
            <a:solidFill>
              <a:srgbClr val="A78BFA"/>
            </a:solidFill>
            <a:effectLst/>
          </c:spPr>
          <c:invertIfNegative val="0"/>
          <c:dLbls>
            <c:numFmt formatCode="0.00" sourceLinked="0"/>
            <c:txPr>
              <a:bodyPr/>
              <a:lstStyle/>
              <a:p>
                <a:pPr>
                  <a:defRPr b="0" i="0" strike="noStrike" sz="1200" u="none">
                    <a:solidFill>
                      <a:srgbClr val="F4F2FF"/>
                    </a:solidFill>
                    <a:latin typeface="+mn-lt"/>
                  </a:defRPr>
                </a:pPr>
              </a:p>
            </c:txPr>
            <c:showLegendKey val="0"/>
            <c:showVal val="1"/>
            <c:showCatName val="0"/>
            <c:showSerName val="0"/>
            <c:showPercent val="0"/>
            <c:showBubbleSize val="0"/>
            <c:showLeaderLines val="0"/>
          </c:dLbls>
          <c:cat>
            <c:multiLvlStrRef>
              <c:f>Sheet1!$A$2:$A$13</c:f>
              <c:multiLvlStrCache>
                <c:ptCount val="12"/>
                <c:lvl>
                  <c:pt idx="0">
                    <c:v>M01</c:v>
                  </c:pt>
                  <c:pt idx="1">
                    <c:v>M02</c:v>
                  </c:pt>
                  <c:pt idx="2">
                    <c:v>M03</c:v>
                  </c:pt>
                  <c:pt idx="3">
                    <c:v>M04</c:v>
                  </c:pt>
                  <c:pt idx="4">
                    <c:v>M05</c:v>
                  </c:pt>
                  <c:pt idx="5">
                    <c:v>M06</c:v>
                  </c:pt>
                  <c:pt idx="6">
                    <c:v>M07</c:v>
                  </c:pt>
                  <c:pt idx="7">
                    <c:v>M08</c:v>
                  </c:pt>
                  <c:pt idx="8">
                    <c:v>M09</c:v>
                  </c:pt>
                  <c:pt idx="9">
                    <c:v>M10</c:v>
                  </c:pt>
                  <c:pt idx="10">
                    <c:v>M11</c:v>
                  </c:pt>
                  <c:pt idx="11">
                    <c:v>M12</c:v>
                  </c:pt>
                </c:lvl>
              </c:multiLvlStrCache>
            </c:multiLvlStrRef>
          </c:cat>
          <c:val>
            <c:numRef>
              <c:f>Sheet1!$B$2:$B$13</c:f>
              <c:numCache>
                <c:formatCode>General</c:formatCode>
                <c:ptCount val="12"/>
                <c:pt idx="0">
                  <c:v>0.9046728971962616</c:v>
                </c:pt>
                <c:pt idx="1">
                  <c:v>0.9735780556676079</c:v>
                </c:pt>
                <c:pt idx="2">
                  <c:v>0.20414232607541158</c:v>
                </c:pt>
                <c:pt idx="3">
                  <c:v>0.5648091268100044</c:v>
                </c:pt>
                <c:pt idx="4">
                  <c:v>0.9536701180505177</c:v>
                </c:pt>
                <c:pt idx="5">
                  <c:v>0.41263845498437945</c:v>
                </c:pt>
                <c:pt idx="6">
                  <c:v>0.44221149627029394</c:v>
                </c:pt>
                <c:pt idx="7">
                  <c:v>0.9190873015873016</c:v>
                </c:pt>
                <c:pt idx="8">
                  <c:v>0.6789912917271408</c:v>
                </c:pt>
                <c:pt idx="9">
                  <c:v>0.9988492063492064</c:v>
                </c:pt>
                <c:pt idx="10">
                  <c:v>0.7643050098231827</c:v>
                </c:pt>
                <c:pt idx="11">
                  <c:v>0.7179500796601168</c:v>
                </c:pt>
              </c:numCache>
            </c:numRef>
          </c:val>
        </c:ser>
        <c:dLbls>
          <c:numFmt formatCode="0.00" sourceLinked="0"/>
          <c:txPr>
            <a:bodyPr/>
            <a:lstStyle/>
            <a:p>
              <a:pPr>
                <a:defRPr b="0" i="0" strike="noStrike" sz="1200" u="none">
                  <a:solidFill>
                    <a:srgbClr val="F4F2F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E2A45"/>
            </a:solidFill>
            <a:prstDash val="solid"/>
            <a:round/>
          </a:ln>
        </c:spPr>
        <c:txPr>
          <a:bodyPr/>
          <a:lstStyle/>
          <a:p>
            <a:pPr>
              <a:defRPr sz="1200" b="0" i="0" u="none" strike="noStrike">
                <a:solidFill>
                  <a:srgbClr val="B9B3D1"/>
                </a:solidFill>
                <a:latin typeface="+mn-lt"/>
              </a:defRPr>
            </a:pPr>
            <a:endParaRPr lang="en-US"/>
          </a:p>
        </c:txPr>
        <c:crossAx val="2094734552"/>
        <c:crosses val="autoZero"/>
        <c:auto val="1"/>
        <c:lblAlgn val="ctr"/>
        <c:noMultiLvlLbl val="1"/>
      </c:catAx>
      <c:valAx>
        <c:axId val="2094734552"/>
        <c:scaling>
          <c:orientation val="minMax"/>
          <c:max val="1.08"/>
          <c:min val="0"/>
        </c:scaling>
        <c:delete val="0"/>
        <c:axPos val="l"/>
        <c:majorGridlines>
          <c:spPr>
            <a:ln w="9525" cap="flat">
              <a:solidFill>
                <a:srgbClr val="2E2A4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8A84A6"/>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4F2FF"/>
                </a:solidFill>
                <a:latin typeface="+mn-lt"/>
              </a:defRPr>
            </a:pPr>
            <a:r>
              <a:rPr sz="1400" b="0" i="0" u="none" strike="noStrike">
                <a:solidFill>
                  <a:srgbClr val="F4F2FF"/>
                </a:solidFill>
                <a:latin typeface="+mn-lt"/>
              </a:rPr>
              <a:t>Misconception resolved by the first intervention (simulated learners)</a:t>
            </a:r>
          </a:p>
        </c:rich>
      </c:tx>
      <c:layout/>
      <c:overlay val="0"/>
    </c:title>
    <c:autoTitleDeleted val="0"/>
    <c:plotArea>
      <c:layout/>
      <c:barChart>
        <c:barDir val="col"/>
        <c:grouping val="clustered"/>
        <c:varyColors val="0"/>
        <c:ser>
          <c:idx val="0"/>
          <c:order val="0"/>
          <c:tx>
            <c:strRef>
              <c:f>Sheet1!$B$1</c:f>
              <c:strCache>
                <c:ptCount val="1"/>
                <c:pt idx="0">
                  <c:v>First-try resolution</c:v>
                </c:pt>
              </c:strCache>
            </c:strRef>
          </c:tx>
          <c:spPr>
            <a:solidFill>
              <a:srgbClr val="7C5CFF"/>
            </a:solidFill>
            <a:effectLst/>
          </c:spPr>
          <c:invertIfNegative val="0"/>
          <c:dLbls>
            <c:numFmt formatCode="0.00" sourceLinked="0"/>
            <c:txPr>
              <a:bodyPr/>
              <a:lstStyle/>
              <a:p>
                <a:pPr>
                  <a:defRPr b="0" i="0" strike="noStrike" sz="1200" u="none">
                    <a:solidFill>
                      <a:srgbClr val="F4F2FF"/>
                    </a:solidFill>
                    <a:latin typeface="+mn-lt"/>
                  </a:defRPr>
                </a:pPr>
              </a:p>
            </c:txPr>
            <c:showLegendKey val="0"/>
            <c:showVal val="1"/>
            <c:showCatName val="0"/>
            <c:showSerName val="0"/>
            <c:showPercent val="0"/>
            <c:showBubbleSize val="0"/>
            <c:showLeaderLines val="0"/>
          </c:dLbls>
          <c:cat>
            <c:multiLvlStrRef>
              <c:f>Sheet1!$A$2:$A$5</c:f>
              <c:multiLvlStrCache>
                <c:ptCount val="4"/>
                <c:lvl>
                  <c:pt idx="0">
                    <c:v>Text only</c:v>
                  </c:pt>
                  <c:pt idx="1">
                    <c:v>Fixed rotation</c:v>
                  </c:pt>
                  <c:pt idx="2">
                    <c:v>Random mode</c:v>
                  </c:pt>
                  <c:pt idx="3">
                    <c:v>Adaptive (Thompson)</c:v>
                  </c:pt>
                </c:lvl>
              </c:multiLvlStrCache>
            </c:multiLvlStrRef>
          </c:cat>
          <c:val>
            <c:numRef>
              <c:f>Sheet1!$B$2:$B$5</c:f>
              <c:numCache>
                <c:formatCode>General</c:formatCode>
                <c:ptCount val="4"/>
                <c:pt idx="0">
                  <c:v>0.3817333333333333</c:v>
                </c:pt>
                <c:pt idx="1">
                  <c:v>0.3856</c:v>
                </c:pt>
                <c:pt idx="2">
                  <c:v>0.4392</c:v>
                </c:pt>
                <c:pt idx="3">
                  <c:v>0.5284666666666666</c:v>
                </c:pt>
              </c:numCache>
            </c:numRef>
          </c:val>
        </c:ser>
        <c:dLbls>
          <c:numFmt formatCode="0.00" sourceLinked="0"/>
          <c:txPr>
            <a:bodyPr/>
            <a:lstStyle/>
            <a:p>
              <a:pPr>
                <a:defRPr b="0" i="0" strike="noStrike" sz="1200" u="none">
                  <a:solidFill>
                    <a:srgbClr val="F4F2F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E2A45"/>
            </a:solidFill>
            <a:prstDash val="solid"/>
            <a:round/>
          </a:ln>
        </c:spPr>
        <c:txPr>
          <a:bodyPr/>
          <a:lstStyle/>
          <a:p>
            <a:pPr>
              <a:defRPr sz="1200" b="0" i="0" u="none" strike="noStrike">
                <a:solidFill>
                  <a:srgbClr val="B9B3D1"/>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9525" cap="flat">
              <a:solidFill>
                <a:srgbClr val="2E2A4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8A84A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learning tools mark an answer right or wrong. Re:Learn asks why it was wrong: which specific misconception produced it. Then it teaches against that idea, in several modes, and only counts it as fixed after transfer questions, a trap question and a delayed retest.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problem from the brief. These three misconceptions produce the identical wrong answer. A plain right or wrong check cannot tell them apart, and a generic explanation will miss two of the three students. They are one of our four look-alike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on one slide. Each step maps to a requirement in the brief: diagnosis, differentiation, adaptive intervention, resolution assessment, learner model. The quick check and the teaching mode are chosen by algorithms, not fixed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from the running app. No probabilities or misconception codes are shown to students; that information lives in a separate Insights view for teachers and judges.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a free CPU with no API key. A Claude rewrite of the hint is optional when a key is present; the classifier, never the LLM, decides the misconception. 167 automated tests cover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evaluation on responses and misconceptions not seen during training. We test both: unseen question templates and phrasing, and unseen misconceptions via leave-one-out.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Hand-written answers are the closer proxy for real students because they use different wording from the templates. The hybrid model combines MiniLM sentence embeddings of the answer and the reasoning with TF-IDF features. Pure embeddings scored 0.53 macro-F1 on validation; the hybrid scored 0.65.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gain beats a random relevant probe in all four settings we tested. The student just sees a short 'Quick check' question; the uncertainty maths stays in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retrained the model twelve times, each time without one misconception, and asked whether it could say 'this is unfamiliar'. Clearly distinct misconceptions score 0.90 to 1.00. Look-alike pairs are the honest failure case, which is exactly why our quick checks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backstory says adaptive systems usually change difficulty, not how a concept is taught. Re:Learn changes the teaching mode. A Thompson-sampling policy learns, per misconception, which mode leads to a passed reassessment. The resolution data used in the simulation is synthetic and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brief's key requirement: don't assume a correct follow-up means learning happened. Mastery scores inform difficulty and dashboards, but they can never mark a misconception resolved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view stays clean. Judges and teachers open Insights from the footer link. Every number there is read from storage or from the metrics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loop: diagnose the idea, teach it in the mode that works, verify with evidence. Then invite a judge to try a live question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5669280" cy="1188720"/>
          </a:xfrm>
          <a:prstGeom prst="rect">
            <a:avLst/>
          </a:prstGeom>
          <a:noFill/>
          <a:ln/>
        </p:spPr>
        <p:txBody>
          <a:bodyPr wrap="square" rtlCol="0"/>
          <a:lstStyle>
            <a:lvl1pPr algn="l" indent="0" marL="0">
              <a:buNone/>
              <a:defRPr lang="en-US" sz="6000" b="1" dirty="0">
                <a:solidFill>
                  <a:schemeClr val="tx1"/>
                </a:solidFill>
              </a:defRPr>
            </a:lvl1pPr>
          </a:lstStyle>
          <a:p>
            <a:pPr algn="l" indent="0" marL="0">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Re:Learn · Team GreenLarpers</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chart" Target="/ppt/charts/chart4.xm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5669280" cy="1188720"/>
          </a:xfrm>
          <a:prstGeom prst="rect">
            <a:avLst/>
          </a:prstGeom>
          <a:noFill/>
          <a:ln/>
        </p:spPr>
        <p:txBody>
          <a:bodyPr wrap="square" lIns="0" tIns="0" rIns="0" bIns="0" rtlCol="0" anchor="b"/>
          <a:lstStyle/>
          <a:p>
            <a:pPr algn="l" indent="0" marL="0">
              <a:buNone/>
            </a:pPr>
            <a:r>
              <a:rPr lang="en-US" sz="6000" b="1" dirty="0">
                <a:solidFill>
                  <a:schemeClr val="tx1"/>
                </a:solidFill>
              </a:rPr>
              <a:t>Re:Learn</a:t>
            </a:r>
            <a:endParaRPr lang="en-US" sz="6000" dirty="0"/>
          </a:p>
        </p:txBody>
      </p:sp>
      <p:sp>
        <p:nvSpPr>
          <p:cNvPr id="3" name="Text 1"/>
          <p:cNvSpPr txBox="1"/>
          <p:nvPr/>
        </p:nvSpPr>
        <p:spPr>
          <a:xfrm>
            <a:off x="548640" y="1280160"/>
            <a:ext cx="566928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TEAM GREENLARPERS · PHYSICS: MECHANICS</a:t>
            </a:r>
            <a:endParaRPr lang="en-US" sz="1400" dirty="0"/>
          </a:p>
        </p:txBody>
      </p:sp>
      <p:sp>
        <p:nvSpPr>
          <p:cNvPr id="4" name="Text 2"/>
          <p:cNvSpPr txBox="1"/>
          <p:nvPr/>
        </p:nvSpPr>
        <p:spPr>
          <a:xfrm>
            <a:off x="548640" y="3154680"/>
            <a:ext cx="5669280" cy="914400"/>
          </a:xfrm>
          <a:prstGeom prst="rect">
            <a:avLst/>
          </a:prstGeom>
          <a:noFill/>
          <a:ln/>
        </p:spPr>
        <p:txBody>
          <a:bodyPr wrap="square" lIns="0" tIns="0" rIns="0" bIns="0" rtlCol="0" anchor="t"/>
          <a:lstStyle/>
          <a:p>
            <a:pPr indent="0" marL="0">
              <a:buNone/>
            </a:pPr>
            <a:r>
              <a:rPr lang="en-US" sz="2600" dirty="0">
                <a:solidFill>
                  <a:schemeClr val="tx2"/>
                </a:solidFill>
              </a:rPr>
              <a:t>Find the wrong idea, not just the wrong answer.</a:t>
            </a:r>
            <a:endParaRPr lang="en-US" sz="2600" dirty="0"/>
          </a:p>
        </p:txBody>
      </p:sp>
      <p:sp>
        <p:nvSpPr>
          <p:cNvPr id="5" name="Text 3"/>
          <p:cNvSpPr txBox="1"/>
          <p:nvPr/>
        </p:nvSpPr>
        <p:spPr>
          <a:xfrm>
            <a:off x="548640" y="4160520"/>
            <a:ext cx="5486400" cy="1280160"/>
          </a:xfrm>
          <a:prstGeom prst="rect">
            <a:avLst/>
          </a:prstGeom>
          <a:noFill/>
          <a:ln/>
        </p:spPr>
        <p:txBody>
          <a:bodyPr wrap="square" lIns="0" tIns="0" rIns="0" bIns="0" rtlCol="0" anchor="t"/>
          <a:lstStyle/>
          <a:p>
            <a:pPr indent="0" marL="0">
              <a:buNone/>
            </a:pPr>
            <a:r>
              <a:rPr lang="en-US" sz="1600" dirty="0">
                <a:solidFill>
                  <a:schemeClr val="tx2"/>
                </a:solidFill>
              </a:rPr>
              <a:t>An adaptive, multimodal learning system that diagnoses the misconception behind a student's answer, teaches against that idea, and only calls it fixed when the evidence says so.</a:t>
            </a:r>
            <a:endParaRPr lang="en-US" sz="1600" dirty="0"/>
          </a:p>
        </p:txBody>
      </p:sp>
      <p:sp>
        <p:nvSpPr>
          <p:cNvPr id="6" name="chip Diagnose"/>
          <p:cNvSpPr/>
          <p:nvPr/>
        </p:nvSpPr>
        <p:spPr>
          <a:xfrm>
            <a:off x="548640" y="5577840"/>
            <a:ext cx="1188720" cy="411480"/>
          </a:xfrm>
          <a:prstGeom prst="roundRect">
            <a:avLst>
              <a:gd name="adj" fmla="val 44444"/>
            </a:avLst>
          </a:prstGeom>
          <a:solidFill>
            <a:schemeClr val="accent1">
              <a:alpha val="45000"/>
            </a:schemeClr>
          </a:solidFill>
          <a:ln w="12700">
            <a:solidFill>
              <a:schemeClr val="accent1"/>
            </a:solidFill>
            <a:prstDash val="solid"/>
          </a:ln>
        </p:spPr>
      </p:sp>
      <p:sp>
        <p:nvSpPr>
          <p:cNvPr id="7" name="Text 5"/>
          <p:cNvSpPr txBox="1"/>
          <p:nvPr/>
        </p:nvSpPr>
        <p:spPr>
          <a:xfrm>
            <a:off x="548640" y="5577840"/>
            <a:ext cx="1188720" cy="411480"/>
          </a:xfrm>
          <a:prstGeom prst="rect">
            <a:avLst/>
          </a:prstGeom>
          <a:noFill/>
          <a:ln/>
        </p:spPr>
        <p:txBody>
          <a:bodyPr wrap="square" lIns="0" tIns="0" rIns="0" bIns="0" rtlCol="0" anchor="ctr"/>
          <a:lstStyle/>
          <a:p>
            <a:pPr algn="ctr" indent="0" marL="0">
              <a:buNone/>
            </a:pPr>
            <a:r>
              <a:rPr lang="en-US" sz="1300" b="1" dirty="0">
                <a:solidFill>
                  <a:schemeClr val="tx1"/>
                </a:solidFill>
              </a:rPr>
              <a:t>Diagnose</a:t>
            </a:r>
            <a:endParaRPr lang="en-US" sz="1300" dirty="0"/>
          </a:p>
        </p:txBody>
      </p:sp>
      <p:sp>
        <p:nvSpPr>
          <p:cNvPr id="8" name="chip Teach (see · try · explain)"/>
          <p:cNvSpPr/>
          <p:nvPr/>
        </p:nvSpPr>
        <p:spPr>
          <a:xfrm>
            <a:off x="1874520" y="5577840"/>
            <a:ext cx="2788920" cy="411480"/>
          </a:xfrm>
          <a:prstGeom prst="roundRect">
            <a:avLst>
              <a:gd name="adj" fmla="val 44444"/>
            </a:avLst>
          </a:prstGeom>
          <a:solidFill>
            <a:schemeClr val="accent1">
              <a:alpha val="45000"/>
            </a:schemeClr>
          </a:solidFill>
          <a:ln w="12700">
            <a:solidFill>
              <a:schemeClr val="accent1"/>
            </a:solidFill>
            <a:prstDash val="solid"/>
          </a:ln>
        </p:spPr>
      </p:sp>
      <p:sp>
        <p:nvSpPr>
          <p:cNvPr id="9" name="Text 7"/>
          <p:cNvSpPr txBox="1"/>
          <p:nvPr/>
        </p:nvSpPr>
        <p:spPr>
          <a:xfrm>
            <a:off x="1874520" y="5577840"/>
            <a:ext cx="2788920" cy="411480"/>
          </a:xfrm>
          <a:prstGeom prst="rect">
            <a:avLst/>
          </a:prstGeom>
          <a:noFill/>
          <a:ln/>
        </p:spPr>
        <p:txBody>
          <a:bodyPr wrap="square" lIns="0" tIns="0" rIns="0" bIns="0" rtlCol="0" anchor="ctr"/>
          <a:lstStyle/>
          <a:p>
            <a:pPr algn="ctr" indent="0" marL="0">
              <a:buNone/>
            </a:pPr>
            <a:r>
              <a:rPr lang="en-US" sz="1300" b="1" dirty="0">
                <a:solidFill>
                  <a:schemeClr val="tx1"/>
                </a:solidFill>
              </a:rPr>
              <a:t>Teach (see · try · explain)</a:t>
            </a:r>
            <a:endParaRPr lang="en-US" sz="1300" dirty="0"/>
          </a:p>
        </p:txBody>
      </p:sp>
      <p:sp>
        <p:nvSpPr>
          <p:cNvPr id="10" name="chip Verify"/>
          <p:cNvSpPr/>
          <p:nvPr/>
        </p:nvSpPr>
        <p:spPr>
          <a:xfrm>
            <a:off x="4800600" y="5577840"/>
            <a:ext cx="914400" cy="411480"/>
          </a:xfrm>
          <a:prstGeom prst="roundRect">
            <a:avLst>
              <a:gd name="adj" fmla="val 44444"/>
            </a:avLst>
          </a:prstGeom>
          <a:solidFill>
            <a:schemeClr val="accent1">
              <a:alpha val="45000"/>
            </a:schemeClr>
          </a:solidFill>
          <a:ln w="12700">
            <a:solidFill>
              <a:schemeClr val="accent1"/>
            </a:solidFill>
            <a:prstDash val="solid"/>
          </a:ln>
        </p:spPr>
      </p:sp>
      <p:sp>
        <p:nvSpPr>
          <p:cNvPr id="11" name="Text 9"/>
          <p:cNvSpPr txBox="1"/>
          <p:nvPr/>
        </p:nvSpPr>
        <p:spPr>
          <a:xfrm>
            <a:off x="4800600" y="5577840"/>
            <a:ext cx="914400" cy="411480"/>
          </a:xfrm>
          <a:prstGeom prst="rect">
            <a:avLst/>
          </a:prstGeom>
          <a:noFill/>
          <a:ln/>
        </p:spPr>
        <p:txBody>
          <a:bodyPr wrap="square" lIns="0" tIns="0" rIns="0" bIns="0" rtlCol="0" anchor="ctr"/>
          <a:lstStyle/>
          <a:p>
            <a:pPr algn="ctr" indent="0" marL="0">
              <a:buNone/>
            </a:pPr>
            <a:r>
              <a:rPr lang="en-US" sz="1300" b="1" dirty="0">
                <a:solidFill>
                  <a:schemeClr val="tx1"/>
                </a:solidFill>
              </a:rPr>
              <a:t>Verify</a:t>
            </a:r>
            <a:endParaRPr lang="en-US" sz="1300" dirty="0"/>
          </a:p>
        </p:txBody>
      </p:sp>
      <p:sp>
        <p:nvSpPr>
          <p:cNvPr id="12" name="Student landing page screenshot frame"/>
          <p:cNvSpPr/>
          <p:nvPr/>
        </p:nvSpPr>
        <p:spPr>
          <a:xfrm>
            <a:off x="6537960" y="707488"/>
            <a:ext cx="5120640" cy="5443025"/>
          </a:xfrm>
          <a:prstGeom prst="roundRect">
            <a:avLst>
              <a:gd name="adj" fmla="val 1429"/>
            </a:avLst>
          </a:prstGeom>
          <a:solidFill>
            <a:schemeClr val="bg2"/>
          </a:solidFill>
          <a:ln w="12700">
            <a:solidFill>
              <a:schemeClr val="accent1"/>
            </a:solidFill>
            <a:prstDash val="solid"/>
          </a:ln>
        </p:spPr>
      </p:sp>
      <p:pic>
        <p:nvPicPr>
          <p:cNvPr id="13" name="Student landing page screenshot" descr="Student landing page screenshot">    </p:cNvPr>
          <p:cNvPicPr>
            <a:picLocks noChangeAspect="1"/>
          </p:cNvPicPr>
          <p:nvPr/>
        </p:nvPicPr>
        <p:blipFill>
          <a:blip r:embed="rId1"/>
          <a:stretch>
            <a:fillRect/>
          </a:stretch>
        </p:blipFill>
        <p:spPr>
          <a:xfrm>
            <a:off x="6583680" y="753208"/>
            <a:ext cx="5029200" cy="53515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One wrong answer can hide three different wrong ideas</a:t>
            </a:r>
            <a:endParaRPr lang="en-US" sz="3000" dirty="0"/>
          </a:p>
        </p:txBody>
      </p:sp>
      <p:sp>
        <p:nvSpPr>
          <p:cNvPr id="3" name="question card"/>
          <p:cNvSpPr/>
          <p:nvPr/>
        </p:nvSpPr>
        <p:spPr>
          <a:xfrm>
            <a:off x="548640" y="1463040"/>
            <a:ext cx="4206240" cy="4206240"/>
          </a:xfrm>
          <a:prstGeom prst="roundRect">
            <a:avLst>
              <a:gd name="adj" fmla="val 2609"/>
            </a:avLst>
          </a:prstGeom>
          <a:solidFill>
            <a:schemeClr val="bg2"/>
          </a:solidFill>
          <a:ln w="9525">
            <a:solidFill>
              <a:schemeClr val="bg2"/>
            </a:solidFill>
            <a:prstDash val="solid"/>
          </a:ln>
        </p:spPr>
      </p:sp>
      <p:sp>
        <p:nvSpPr>
          <p:cNvPr id="4" name="Text 2"/>
          <p:cNvSpPr txBox="1"/>
          <p:nvPr/>
        </p:nvSpPr>
        <p:spPr>
          <a:xfrm>
            <a:off x="822960" y="1691640"/>
            <a:ext cx="3657600" cy="274320"/>
          </a:xfrm>
          <a:prstGeom prst="rect">
            <a:avLst/>
          </a:prstGeom>
          <a:noFill/>
          <a:ln/>
        </p:spPr>
        <p:txBody>
          <a:bodyPr wrap="square" lIns="0" tIns="0" rIns="0" bIns="0" rtlCol="0" anchor="t"/>
          <a:lstStyle/>
          <a:p>
            <a:pPr indent="0" marL="0">
              <a:buNone/>
            </a:pPr>
            <a:r>
              <a:rPr lang="en-US" sz="1200" b="1" dirty="0">
                <a:solidFill>
                  <a:schemeClr val="accent2"/>
                </a:solidFill>
              </a:rPr>
              <a:t>THE QUESTION</a:t>
            </a:r>
            <a:endParaRPr lang="en-US" sz="1200" dirty="0"/>
          </a:p>
        </p:txBody>
      </p:sp>
      <p:sp>
        <p:nvSpPr>
          <p:cNvPr id="5" name="Text 3"/>
          <p:cNvSpPr txBox="1"/>
          <p:nvPr/>
        </p:nvSpPr>
        <p:spPr>
          <a:xfrm>
            <a:off x="822960" y="2057400"/>
            <a:ext cx="3657600" cy="1371600"/>
          </a:xfrm>
          <a:prstGeom prst="rect">
            <a:avLst/>
          </a:prstGeom>
          <a:noFill/>
          <a:ln/>
        </p:spPr>
        <p:txBody>
          <a:bodyPr wrap="square" lIns="0" tIns="0" rIns="0" bIns="0" rtlCol="0" anchor="t"/>
          <a:lstStyle/>
          <a:p>
            <a:pPr indent="0" marL="0">
              <a:buNone/>
            </a:pPr>
            <a:r>
              <a:rPr lang="en-US" sz="2000" b="1" dirty="0">
                <a:solidFill>
                  <a:schemeClr val="tx1"/>
                </a:solidFill>
              </a:rPr>
              <a:t>A 0.5 kg puck slides across frictionless ice at a constant 8 m/s. What is the net force on it?</a:t>
            </a:r>
            <a:endParaRPr lang="en-US" sz="2000" dirty="0"/>
          </a:p>
        </p:txBody>
      </p:sp>
      <p:sp>
        <p:nvSpPr>
          <p:cNvPr id="6" name="Text 4"/>
          <p:cNvSpPr txBox="1"/>
          <p:nvPr/>
        </p:nvSpPr>
        <p:spPr>
          <a:xfrm>
            <a:off x="822960" y="3611880"/>
            <a:ext cx="3657600" cy="320040"/>
          </a:xfrm>
          <a:prstGeom prst="rect">
            <a:avLst/>
          </a:prstGeom>
          <a:noFill/>
          <a:ln/>
        </p:spPr>
        <p:txBody>
          <a:bodyPr wrap="square" lIns="0" tIns="0" rIns="0" bIns="0" rtlCol="0" anchor="t"/>
          <a:lstStyle/>
          <a:p>
            <a:pPr indent="0" marL="0">
              <a:buNone/>
            </a:pPr>
            <a:r>
              <a:rPr lang="en-US" sz="1400" dirty="0">
                <a:solidFill>
                  <a:schemeClr val="tx2"/>
                </a:solidFill>
              </a:rPr>
              <a:t>Three students all answer</a:t>
            </a:r>
            <a:endParaRPr lang="en-US" sz="1400" dirty="0"/>
          </a:p>
        </p:txBody>
      </p:sp>
      <p:sp>
        <p:nvSpPr>
          <p:cNvPr id="7" name="Text 5"/>
          <p:cNvSpPr txBox="1"/>
          <p:nvPr/>
        </p:nvSpPr>
        <p:spPr>
          <a:xfrm>
            <a:off x="822960" y="3977640"/>
            <a:ext cx="3657600" cy="731520"/>
          </a:xfrm>
          <a:prstGeom prst="rect">
            <a:avLst/>
          </a:prstGeom>
          <a:noFill/>
          <a:ln/>
        </p:spPr>
        <p:txBody>
          <a:bodyPr wrap="square" lIns="0" tIns="0" rIns="0" bIns="0" rtlCol="0" anchor="t"/>
          <a:lstStyle/>
          <a:p>
            <a:pPr indent="0" marL="0">
              <a:buNone/>
            </a:pPr>
            <a:r>
              <a:rPr lang="en-US" sz="4000" b="1" dirty="0">
                <a:solidFill>
                  <a:schemeClr val="accent5"/>
                </a:solidFill>
              </a:rPr>
              <a:t>4.0 N forward</a:t>
            </a:r>
            <a:endParaRPr lang="en-US" sz="4000" dirty="0"/>
          </a:p>
        </p:txBody>
      </p:sp>
      <p:sp>
        <p:nvSpPr>
          <p:cNvPr id="8" name="Text 6"/>
          <p:cNvSpPr txBox="1"/>
          <p:nvPr/>
        </p:nvSpPr>
        <p:spPr>
          <a:xfrm>
            <a:off x="822960" y="4892040"/>
            <a:ext cx="3657600" cy="365760"/>
          </a:xfrm>
          <a:prstGeom prst="rect">
            <a:avLst/>
          </a:prstGeom>
          <a:noFill/>
          <a:ln/>
        </p:spPr>
        <p:txBody>
          <a:bodyPr wrap="square" lIns="0" tIns="0" rIns="0" bIns="0" rtlCol="0" anchor="t"/>
          <a:lstStyle/>
          <a:p>
            <a:pPr indent="0" marL="0">
              <a:buNone/>
            </a:pPr>
            <a:r>
              <a:rPr lang="en-US" sz="1600" dirty="0">
                <a:solidFill>
                  <a:schemeClr val="accent3"/>
                </a:solidFill>
              </a:rPr>
              <a:t>Correct answer: 0 N</a:t>
            </a:r>
            <a:endParaRPr lang="en-US" sz="1600" dirty="0"/>
          </a:p>
        </p:txBody>
      </p:sp>
      <p:sp>
        <p:nvSpPr>
          <p:cNvPr id="9" name="reason M01"/>
          <p:cNvSpPr/>
          <p:nvPr/>
        </p:nvSpPr>
        <p:spPr>
          <a:xfrm>
            <a:off x="5120640" y="1463040"/>
            <a:ext cx="6492240" cy="1234440"/>
          </a:xfrm>
          <a:prstGeom prst="roundRect">
            <a:avLst>
              <a:gd name="adj" fmla="val 8889"/>
            </a:avLst>
          </a:prstGeom>
          <a:solidFill>
            <a:schemeClr val="bg2"/>
          </a:solidFill>
          <a:ln w="9525">
            <a:solidFill>
              <a:schemeClr val="bg2"/>
            </a:solidFill>
            <a:prstDash val="solid"/>
          </a:ln>
        </p:spPr>
      </p:sp>
      <p:sp>
        <p:nvSpPr>
          <p:cNvPr id="10" name="badge M01"/>
          <p:cNvSpPr/>
          <p:nvPr/>
        </p:nvSpPr>
        <p:spPr>
          <a:xfrm>
            <a:off x="5349240" y="1828800"/>
            <a:ext cx="502920" cy="502920"/>
          </a:xfrm>
          <a:prstGeom prst="ellipse">
            <a:avLst/>
          </a:prstGeom>
          <a:solidFill>
            <a:schemeClr val="accent2"/>
          </a:solidFill>
          <a:ln w="12700">
            <a:solidFill>
              <a:schemeClr val="accent2"/>
            </a:solidFill>
            <a:prstDash val="solid"/>
          </a:ln>
        </p:spPr>
      </p:sp>
      <p:sp>
        <p:nvSpPr>
          <p:cNvPr id="11" name="Text 9"/>
          <p:cNvSpPr txBox="1"/>
          <p:nvPr/>
        </p:nvSpPr>
        <p:spPr>
          <a:xfrm>
            <a:off x="534924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2" name="Text 10"/>
          <p:cNvSpPr txBox="1"/>
          <p:nvPr/>
        </p:nvSpPr>
        <p:spPr>
          <a:xfrm>
            <a:off x="6035040" y="1645920"/>
            <a:ext cx="5394960" cy="502920"/>
          </a:xfrm>
          <a:prstGeom prst="rect">
            <a:avLst/>
          </a:prstGeom>
          <a:noFill/>
          <a:ln/>
        </p:spPr>
        <p:txBody>
          <a:bodyPr wrap="square" lIns="0" tIns="0" rIns="0" bIns="0" rtlCol="0" anchor="t"/>
          <a:lstStyle/>
          <a:p>
            <a:pPr indent="0" marL="0">
              <a:buNone/>
            </a:pPr>
            <a:r>
              <a:rPr lang="en-US" sz="1600" i="1" dirty="0">
                <a:solidFill>
                  <a:schemeClr val="tx1"/>
                </a:solidFill>
              </a:rPr>
              <a:t>"Something has to keep pushing it, or it would stop."</a:t>
            </a:r>
            <a:endParaRPr lang="en-US" sz="1600" dirty="0"/>
          </a:p>
        </p:txBody>
      </p:sp>
      <p:sp>
        <p:nvSpPr>
          <p:cNvPr id="13" name="Text 11"/>
          <p:cNvSpPr txBox="1"/>
          <p:nvPr/>
        </p:nvSpPr>
        <p:spPr>
          <a:xfrm>
            <a:off x="6035040" y="2194560"/>
            <a:ext cx="5394960" cy="365760"/>
          </a:xfrm>
          <a:prstGeom prst="rect">
            <a:avLst/>
          </a:prstGeom>
          <a:noFill/>
          <a:ln/>
        </p:spPr>
        <p:txBody>
          <a:bodyPr wrap="square" lIns="0" tIns="0" rIns="0" bIns="0" rtlCol="0" anchor="t"/>
          <a:lstStyle/>
          <a:p>
            <a:pPr indent="0" marL="0">
              <a:buNone/>
            </a:pPr>
            <a:r>
              <a:rPr lang="en-US" sz="1300" b="1" dirty="0">
                <a:solidFill>
                  <a:schemeClr val="accent2"/>
                </a:solidFill>
              </a:rPr>
              <a:t>M01 · A force is needed to keep moving</a:t>
            </a:r>
            <a:endParaRPr lang="en-US" sz="1300" dirty="0"/>
          </a:p>
        </p:txBody>
      </p:sp>
      <p:sp>
        <p:nvSpPr>
          <p:cNvPr id="14" name="reason M09"/>
          <p:cNvSpPr/>
          <p:nvPr/>
        </p:nvSpPr>
        <p:spPr>
          <a:xfrm>
            <a:off x="5120640" y="2880360"/>
            <a:ext cx="6492240" cy="1234440"/>
          </a:xfrm>
          <a:prstGeom prst="roundRect">
            <a:avLst>
              <a:gd name="adj" fmla="val 8889"/>
            </a:avLst>
          </a:prstGeom>
          <a:solidFill>
            <a:schemeClr val="bg2"/>
          </a:solidFill>
          <a:ln w="9525">
            <a:solidFill>
              <a:schemeClr val="bg2"/>
            </a:solidFill>
            <a:prstDash val="solid"/>
          </a:ln>
        </p:spPr>
      </p:sp>
      <p:sp>
        <p:nvSpPr>
          <p:cNvPr id="15" name="badge M09"/>
          <p:cNvSpPr/>
          <p:nvPr/>
        </p:nvSpPr>
        <p:spPr>
          <a:xfrm>
            <a:off x="5349240" y="3246120"/>
            <a:ext cx="502920" cy="502920"/>
          </a:xfrm>
          <a:prstGeom prst="ellipse">
            <a:avLst/>
          </a:prstGeom>
          <a:solidFill>
            <a:schemeClr val="accent2"/>
          </a:solidFill>
          <a:ln w="12700">
            <a:solidFill>
              <a:schemeClr val="accent2"/>
            </a:solidFill>
            <a:prstDash val="solid"/>
          </a:ln>
        </p:spPr>
      </p:sp>
      <p:sp>
        <p:nvSpPr>
          <p:cNvPr id="16" name="Text 14"/>
          <p:cNvSpPr txBox="1"/>
          <p:nvPr/>
        </p:nvSpPr>
        <p:spPr>
          <a:xfrm>
            <a:off x="5349240" y="32461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7" name="Text 15"/>
          <p:cNvSpPr txBox="1"/>
          <p:nvPr/>
        </p:nvSpPr>
        <p:spPr>
          <a:xfrm>
            <a:off x="6035040" y="3063240"/>
            <a:ext cx="5394960" cy="502920"/>
          </a:xfrm>
          <a:prstGeom prst="rect">
            <a:avLst/>
          </a:prstGeom>
          <a:noFill/>
          <a:ln/>
        </p:spPr>
        <p:txBody>
          <a:bodyPr wrap="square" lIns="0" tIns="0" rIns="0" bIns="0" rtlCol="0" anchor="t"/>
          <a:lstStyle/>
          <a:p>
            <a:pPr indent="0" marL="0">
              <a:buNone/>
            </a:pPr>
            <a:r>
              <a:rPr lang="en-US" sz="1600" i="1" dirty="0">
                <a:solidFill>
                  <a:schemeClr val="tx1"/>
                </a:solidFill>
              </a:rPr>
              <a:t>"The hit put a force into the puck that it still carries."</a:t>
            </a:r>
            <a:endParaRPr lang="en-US" sz="1600" dirty="0"/>
          </a:p>
        </p:txBody>
      </p:sp>
      <p:sp>
        <p:nvSpPr>
          <p:cNvPr id="18" name="Text 16"/>
          <p:cNvSpPr txBox="1"/>
          <p:nvPr/>
        </p:nvSpPr>
        <p:spPr>
          <a:xfrm>
            <a:off x="6035040" y="3611880"/>
            <a:ext cx="5394960" cy="365760"/>
          </a:xfrm>
          <a:prstGeom prst="rect">
            <a:avLst/>
          </a:prstGeom>
          <a:noFill/>
          <a:ln/>
        </p:spPr>
        <p:txBody>
          <a:bodyPr wrap="square" lIns="0" tIns="0" rIns="0" bIns="0" rtlCol="0" anchor="t"/>
          <a:lstStyle/>
          <a:p>
            <a:pPr indent="0" marL="0">
              <a:buNone/>
            </a:pPr>
            <a:r>
              <a:rPr lang="en-US" sz="1300" b="1" dirty="0">
                <a:solidFill>
                  <a:schemeClr val="accent2"/>
                </a:solidFill>
              </a:rPr>
              <a:t>M09 · Impetus: the force is stored inside</a:t>
            </a:r>
            <a:endParaRPr lang="en-US" sz="1300" dirty="0"/>
          </a:p>
        </p:txBody>
      </p:sp>
      <p:sp>
        <p:nvSpPr>
          <p:cNvPr id="19" name="reason M12"/>
          <p:cNvSpPr/>
          <p:nvPr/>
        </p:nvSpPr>
        <p:spPr>
          <a:xfrm>
            <a:off x="5120640" y="4297680"/>
            <a:ext cx="6492240" cy="1234440"/>
          </a:xfrm>
          <a:prstGeom prst="roundRect">
            <a:avLst>
              <a:gd name="adj" fmla="val 8889"/>
            </a:avLst>
          </a:prstGeom>
          <a:solidFill>
            <a:schemeClr val="bg2"/>
          </a:solidFill>
          <a:ln w="9525">
            <a:solidFill>
              <a:schemeClr val="bg2"/>
            </a:solidFill>
            <a:prstDash val="solid"/>
          </a:ln>
        </p:spPr>
      </p:sp>
      <p:sp>
        <p:nvSpPr>
          <p:cNvPr id="20" name="badge M12"/>
          <p:cNvSpPr/>
          <p:nvPr/>
        </p:nvSpPr>
        <p:spPr>
          <a:xfrm>
            <a:off x="5349240" y="4663440"/>
            <a:ext cx="502920" cy="502920"/>
          </a:xfrm>
          <a:prstGeom prst="ellipse">
            <a:avLst/>
          </a:prstGeom>
          <a:solidFill>
            <a:schemeClr val="accent2"/>
          </a:solidFill>
          <a:ln w="12700">
            <a:solidFill>
              <a:schemeClr val="accent2"/>
            </a:solidFill>
            <a:prstDash val="solid"/>
          </a:ln>
        </p:spPr>
      </p:sp>
      <p:sp>
        <p:nvSpPr>
          <p:cNvPr id="21" name="Text 19"/>
          <p:cNvSpPr txBox="1"/>
          <p:nvPr/>
        </p:nvSpPr>
        <p:spPr>
          <a:xfrm>
            <a:off x="5349240" y="46634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2" name="Text 20"/>
          <p:cNvSpPr txBox="1"/>
          <p:nvPr/>
        </p:nvSpPr>
        <p:spPr>
          <a:xfrm>
            <a:off x="6035040" y="4480560"/>
            <a:ext cx="5394960" cy="502920"/>
          </a:xfrm>
          <a:prstGeom prst="rect">
            <a:avLst/>
          </a:prstGeom>
          <a:noFill/>
          <a:ln/>
        </p:spPr>
        <p:txBody>
          <a:bodyPr wrap="square" lIns="0" tIns="0" rIns="0" bIns="0" rtlCol="0" anchor="t"/>
          <a:lstStyle/>
          <a:p>
            <a:pPr indent="0" marL="0">
              <a:buNone/>
            </a:pPr>
            <a:r>
              <a:rPr lang="en-US" sz="1600" i="1" dirty="0">
                <a:solidFill>
                  <a:schemeClr val="tx1"/>
                </a:solidFill>
              </a:rPr>
              <a:t>"It moves forward, so the net force points forward."</a:t>
            </a:r>
            <a:endParaRPr lang="en-US" sz="1600" dirty="0"/>
          </a:p>
        </p:txBody>
      </p:sp>
      <p:sp>
        <p:nvSpPr>
          <p:cNvPr id="23" name="Text 21"/>
          <p:cNvSpPr txBox="1"/>
          <p:nvPr/>
        </p:nvSpPr>
        <p:spPr>
          <a:xfrm>
            <a:off x="6035040" y="5029200"/>
            <a:ext cx="5394960" cy="365760"/>
          </a:xfrm>
          <a:prstGeom prst="rect">
            <a:avLst/>
          </a:prstGeom>
          <a:noFill/>
          <a:ln/>
        </p:spPr>
        <p:txBody>
          <a:bodyPr wrap="square" lIns="0" tIns="0" rIns="0" bIns="0" rtlCol="0" anchor="t"/>
          <a:lstStyle/>
          <a:p>
            <a:pPr indent="0" marL="0">
              <a:buNone/>
            </a:pPr>
            <a:r>
              <a:rPr lang="en-US" sz="1300" b="1" dirty="0">
                <a:solidFill>
                  <a:schemeClr val="accent2"/>
                </a:solidFill>
              </a:rPr>
              <a:t>M12 · Net force always follows the motion</a:t>
            </a:r>
            <a:endParaRPr lang="en-US" sz="1300" dirty="0"/>
          </a:p>
        </p:txBody>
      </p:sp>
      <p:sp>
        <p:nvSpPr>
          <p:cNvPr id="24" name="Text 22"/>
          <p:cNvSpPr txBox="1"/>
          <p:nvPr/>
        </p:nvSpPr>
        <p:spPr>
          <a:xfrm>
            <a:off x="548640" y="5852160"/>
            <a:ext cx="11064240" cy="411480"/>
          </a:xfrm>
          <a:prstGeom prst="rect">
            <a:avLst/>
          </a:prstGeom>
          <a:noFill/>
          <a:ln/>
        </p:spPr>
        <p:txBody>
          <a:bodyPr wrap="square" lIns="0" tIns="0" rIns="0" bIns="0" rtlCol="0" anchor="t"/>
          <a:lstStyle/>
          <a:p>
            <a:pPr indent="0" marL="0">
              <a:buNone/>
            </a:pPr>
            <a:r>
              <a:rPr lang="en-US" sz="1500" dirty="0">
                <a:solidFill>
                  <a:schemeClr val="tx2"/>
                </a:solidFill>
              </a:rPr>
              <a:t>Marking it wrong fixes none of them. Showing the right answer doesn't either: each student needs a different explanation.</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Re:Learn closes the loop from mistake to verified understanding</a:t>
            </a:r>
            <a:endParaRPr lang="en-US" sz="3000" dirty="0"/>
          </a:p>
        </p:txBody>
      </p:sp>
      <p:sp>
        <p:nvSpPr>
          <p:cNvPr id="3" name="step Diagnose"/>
          <p:cNvSpPr/>
          <p:nvPr/>
        </p:nvSpPr>
        <p:spPr>
          <a:xfrm>
            <a:off x="548640" y="1554480"/>
            <a:ext cx="2057400" cy="3383280"/>
          </a:xfrm>
          <a:prstGeom prst="roundRect">
            <a:avLst>
              <a:gd name="adj" fmla="val 5333"/>
            </a:avLst>
          </a:prstGeom>
          <a:solidFill>
            <a:schemeClr val="bg2"/>
          </a:solidFill>
          <a:ln w="9525">
            <a:solidFill>
              <a:schemeClr val="bg2"/>
            </a:solidFill>
            <a:prstDash val="solid"/>
          </a:ln>
        </p:spPr>
      </p:sp>
      <p:sp>
        <p:nvSpPr>
          <p:cNvPr id="4" name="step badge 1"/>
          <p:cNvSpPr/>
          <p:nvPr/>
        </p:nvSpPr>
        <p:spPr>
          <a:xfrm>
            <a:off x="731520" y="178308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31520" y="1783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731520" y="2423160"/>
            <a:ext cx="1737360" cy="411480"/>
          </a:xfrm>
          <a:prstGeom prst="rect">
            <a:avLst/>
          </a:prstGeom>
          <a:noFill/>
          <a:ln/>
        </p:spPr>
        <p:txBody>
          <a:bodyPr wrap="square" lIns="0" tIns="0" rIns="0" bIns="0" rtlCol="0" anchor="t"/>
          <a:lstStyle/>
          <a:p>
            <a:pPr indent="0" marL="0">
              <a:buNone/>
            </a:pPr>
            <a:r>
              <a:rPr lang="en-US" sz="2000" b="1" dirty="0">
                <a:solidFill>
                  <a:schemeClr val="tx1"/>
                </a:solidFill>
              </a:rPr>
              <a:t>Diagnose</a:t>
            </a:r>
            <a:endParaRPr lang="en-US" sz="2000" dirty="0"/>
          </a:p>
        </p:txBody>
      </p:sp>
      <p:sp>
        <p:nvSpPr>
          <p:cNvPr id="7" name="Text 5"/>
          <p:cNvSpPr txBox="1"/>
          <p:nvPr/>
        </p:nvSpPr>
        <p:spPr>
          <a:xfrm>
            <a:off x="731520" y="2880360"/>
            <a:ext cx="1737360" cy="2011680"/>
          </a:xfrm>
          <a:prstGeom prst="rect">
            <a:avLst/>
          </a:prstGeom>
          <a:noFill/>
          <a:ln/>
        </p:spPr>
        <p:txBody>
          <a:bodyPr wrap="square" lIns="0" tIns="0" rIns="0" bIns="0" rtlCol="0" anchor="t"/>
          <a:lstStyle/>
          <a:p>
            <a:pPr indent="0" marL="0">
              <a:buNone/>
            </a:pPr>
            <a:r>
              <a:rPr lang="en-US" sz="1300" dirty="0">
                <a:solidFill>
                  <a:schemeClr val="tx2"/>
                </a:solidFill>
              </a:rPr>
              <a:t>A classifier reads the question, answer and reasoning, and names one of 12 misconceptions with a calibrated confidence.</a:t>
            </a:r>
            <a:endParaRPr lang="en-US" sz="1300" dirty="0"/>
          </a:p>
        </p:txBody>
      </p:sp>
      <p:sp>
        <p:nvSpPr>
          <p:cNvPr id="8" name="arrow 0"/>
          <p:cNvSpPr/>
          <p:nvPr/>
        </p:nvSpPr>
        <p:spPr>
          <a:xfrm>
            <a:off x="2624328" y="3108960"/>
            <a:ext cx="182880" cy="274320"/>
          </a:xfrm>
          <a:prstGeom prst="rightArrow">
            <a:avLst/>
          </a:prstGeom>
          <a:solidFill>
            <a:schemeClr val="accent2"/>
          </a:solidFill>
          <a:ln w="12700">
            <a:solidFill>
              <a:schemeClr val="accent2"/>
            </a:solidFill>
            <a:prstDash val="solid"/>
          </a:ln>
        </p:spPr>
      </p:sp>
      <p:sp>
        <p:nvSpPr>
          <p:cNvPr id="9" name="step Quick check"/>
          <p:cNvSpPr/>
          <p:nvPr/>
        </p:nvSpPr>
        <p:spPr>
          <a:xfrm>
            <a:off x="2834640" y="1554480"/>
            <a:ext cx="2057400" cy="3383280"/>
          </a:xfrm>
          <a:prstGeom prst="roundRect">
            <a:avLst>
              <a:gd name="adj" fmla="val 5333"/>
            </a:avLst>
          </a:prstGeom>
          <a:solidFill>
            <a:schemeClr val="bg2"/>
          </a:solidFill>
          <a:ln w="9525">
            <a:solidFill>
              <a:schemeClr val="bg2"/>
            </a:solidFill>
            <a:prstDash val="solid"/>
          </a:ln>
        </p:spPr>
      </p:sp>
      <p:sp>
        <p:nvSpPr>
          <p:cNvPr id="10" name="step badge 2"/>
          <p:cNvSpPr/>
          <p:nvPr/>
        </p:nvSpPr>
        <p:spPr>
          <a:xfrm>
            <a:off x="3017520" y="1783080"/>
            <a:ext cx="502920" cy="502920"/>
          </a:xfrm>
          <a:prstGeom prst="ellipse">
            <a:avLst/>
          </a:prstGeom>
          <a:solidFill>
            <a:schemeClr val="accent1"/>
          </a:solidFill>
          <a:ln w="12700">
            <a:solidFill>
              <a:schemeClr val="accent1"/>
            </a:solidFill>
            <a:prstDash val="solid"/>
          </a:ln>
        </p:spPr>
      </p:sp>
      <p:sp>
        <p:nvSpPr>
          <p:cNvPr id="11" name="Text 9"/>
          <p:cNvSpPr txBox="1"/>
          <p:nvPr/>
        </p:nvSpPr>
        <p:spPr>
          <a:xfrm>
            <a:off x="3017520" y="1783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3017520" y="2423160"/>
            <a:ext cx="1737360" cy="411480"/>
          </a:xfrm>
          <a:prstGeom prst="rect">
            <a:avLst/>
          </a:prstGeom>
          <a:noFill/>
          <a:ln/>
        </p:spPr>
        <p:txBody>
          <a:bodyPr wrap="square" lIns="0" tIns="0" rIns="0" bIns="0" rtlCol="0" anchor="t"/>
          <a:lstStyle/>
          <a:p>
            <a:pPr indent="0" marL="0">
              <a:buNone/>
            </a:pPr>
            <a:r>
              <a:rPr lang="en-US" sz="2000" b="1" dirty="0">
                <a:solidFill>
                  <a:schemeClr val="tx1"/>
                </a:solidFill>
              </a:rPr>
              <a:t>Quick check</a:t>
            </a:r>
            <a:endParaRPr lang="en-US" sz="2000" dirty="0"/>
          </a:p>
        </p:txBody>
      </p:sp>
      <p:sp>
        <p:nvSpPr>
          <p:cNvPr id="13" name="Text 11"/>
          <p:cNvSpPr txBox="1"/>
          <p:nvPr/>
        </p:nvSpPr>
        <p:spPr>
          <a:xfrm>
            <a:off x="3017520" y="2880360"/>
            <a:ext cx="1737360" cy="2011680"/>
          </a:xfrm>
          <a:prstGeom prst="rect">
            <a:avLst/>
          </a:prstGeom>
          <a:noFill/>
          <a:ln/>
        </p:spPr>
        <p:txBody>
          <a:bodyPr wrap="square" lIns="0" tIns="0" rIns="0" bIns="0" rtlCol="0" anchor="t"/>
          <a:lstStyle/>
          <a:p>
            <a:pPr indent="0" marL="0">
              <a:buNone/>
            </a:pPr>
            <a:r>
              <a:rPr lang="en-US" sz="1300" dirty="0">
                <a:solidFill>
                  <a:schemeClr val="tx2"/>
                </a:solidFill>
              </a:rPr>
              <a:t>If two look-alike ideas are close, ask the one question that best separates them (highest expected information gain).</a:t>
            </a:r>
            <a:endParaRPr lang="en-US" sz="1300" dirty="0"/>
          </a:p>
        </p:txBody>
      </p:sp>
      <p:sp>
        <p:nvSpPr>
          <p:cNvPr id="14" name="arrow 1"/>
          <p:cNvSpPr/>
          <p:nvPr/>
        </p:nvSpPr>
        <p:spPr>
          <a:xfrm>
            <a:off x="4910328" y="3108960"/>
            <a:ext cx="182880" cy="274320"/>
          </a:xfrm>
          <a:prstGeom prst="rightArrow">
            <a:avLst/>
          </a:prstGeom>
          <a:solidFill>
            <a:schemeClr val="accent2"/>
          </a:solidFill>
          <a:ln w="12700">
            <a:solidFill>
              <a:schemeClr val="accent2"/>
            </a:solidFill>
            <a:prstDash val="solid"/>
          </a:ln>
        </p:spPr>
      </p:sp>
      <p:sp>
        <p:nvSpPr>
          <p:cNvPr id="15" name="step Teach"/>
          <p:cNvSpPr/>
          <p:nvPr/>
        </p:nvSpPr>
        <p:spPr>
          <a:xfrm>
            <a:off x="5120640" y="1554480"/>
            <a:ext cx="2057400" cy="3383280"/>
          </a:xfrm>
          <a:prstGeom prst="roundRect">
            <a:avLst>
              <a:gd name="adj" fmla="val 5333"/>
            </a:avLst>
          </a:prstGeom>
          <a:solidFill>
            <a:schemeClr val="bg2"/>
          </a:solidFill>
          <a:ln w="9525">
            <a:solidFill>
              <a:schemeClr val="bg2"/>
            </a:solidFill>
            <a:prstDash val="solid"/>
          </a:ln>
        </p:spPr>
      </p:sp>
      <p:sp>
        <p:nvSpPr>
          <p:cNvPr id="16" name="step badge 3"/>
          <p:cNvSpPr/>
          <p:nvPr/>
        </p:nvSpPr>
        <p:spPr>
          <a:xfrm>
            <a:off x="5303520" y="1783080"/>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5303520" y="1783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5303520" y="2423160"/>
            <a:ext cx="1737360" cy="411480"/>
          </a:xfrm>
          <a:prstGeom prst="rect">
            <a:avLst/>
          </a:prstGeom>
          <a:noFill/>
          <a:ln/>
        </p:spPr>
        <p:txBody>
          <a:bodyPr wrap="square" lIns="0" tIns="0" rIns="0" bIns="0" rtlCol="0" anchor="t"/>
          <a:lstStyle/>
          <a:p>
            <a:pPr indent="0" marL="0">
              <a:buNone/>
            </a:pPr>
            <a:r>
              <a:rPr lang="en-US" sz="2000" b="1" dirty="0">
                <a:solidFill>
                  <a:schemeClr val="tx1"/>
                </a:solidFill>
              </a:rPr>
              <a:t>Teach</a:t>
            </a:r>
            <a:endParaRPr lang="en-US" sz="2000" dirty="0"/>
          </a:p>
        </p:txBody>
      </p:sp>
      <p:sp>
        <p:nvSpPr>
          <p:cNvPr id="19" name="Text 17"/>
          <p:cNvSpPr txBox="1"/>
          <p:nvPr/>
        </p:nvSpPr>
        <p:spPr>
          <a:xfrm>
            <a:off x="5303520" y="2880360"/>
            <a:ext cx="1737360" cy="2011680"/>
          </a:xfrm>
          <a:prstGeom prst="rect">
            <a:avLst/>
          </a:prstGeom>
          <a:noFill/>
          <a:ln/>
        </p:spPr>
        <p:txBody>
          <a:bodyPr wrap="square" lIns="0" tIns="0" rIns="0" bIns="0" rtlCol="0" anchor="t"/>
          <a:lstStyle/>
          <a:p>
            <a:pPr indent="0" marL="0">
              <a:buNone/>
            </a:pPr>
            <a:r>
              <a:rPr lang="en-US" sz="1300" dirty="0">
                <a:solidFill>
                  <a:schemeClr val="tx2"/>
                </a:solidFill>
              </a:rPr>
              <a:t>Targeted hint in the mode most likely to work for this idea: explanation, force diagram or interactive simulation.</a:t>
            </a:r>
            <a:endParaRPr lang="en-US" sz="1300" dirty="0"/>
          </a:p>
        </p:txBody>
      </p:sp>
      <p:sp>
        <p:nvSpPr>
          <p:cNvPr id="20" name="arrow 2"/>
          <p:cNvSpPr/>
          <p:nvPr/>
        </p:nvSpPr>
        <p:spPr>
          <a:xfrm>
            <a:off x="7196328" y="3108960"/>
            <a:ext cx="182880" cy="274320"/>
          </a:xfrm>
          <a:prstGeom prst="rightArrow">
            <a:avLst/>
          </a:prstGeom>
          <a:solidFill>
            <a:schemeClr val="accent2"/>
          </a:solidFill>
          <a:ln w="12700">
            <a:solidFill>
              <a:schemeClr val="accent2"/>
            </a:solidFill>
            <a:prstDash val="solid"/>
          </a:ln>
        </p:spPr>
      </p:sp>
      <p:sp>
        <p:nvSpPr>
          <p:cNvPr id="21" name="step Reassess"/>
          <p:cNvSpPr/>
          <p:nvPr/>
        </p:nvSpPr>
        <p:spPr>
          <a:xfrm>
            <a:off x="7406640" y="1554480"/>
            <a:ext cx="2057400" cy="3383280"/>
          </a:xfrm>
          <a:prstGeom prst="roundRect">
            <a:avLst>
              <a:gd name="adj" fmla="val 5333"/>
            </a:avLst>
          </a:prstGeom>
          <a:solidFill>
            <a:schemeClr val="bg2"/>
          </a:solidFill>
          <a:ln w="9525">
            <a:solidFill>
              <a:schemeClr val="bg2"/>
            </a:solidFill>
            <a:prstDash val="solid"/>
          </a:ln>
        </p:spPr>
      </p:sp>
      <p:sp>
        <p:nvSpPr>
          <p:cNvPr id="22" name="step badge 4"/>
          <p:cNvSpPr/>
          <p:nvPr/>
        </p:nvSpPr>
        <p:spPr>
          <a:xfrm>
            <a:off x="7589520" y="1783080"/>
            <a:ext cx="502920" cy="502920"/>
          </a:xfrm>
          <a:prstGeom prst="ellipse">
            <a:avLst/>
          </a:prstGeom>
          <a:solidFill>
            <a:schemeClr val="accent1"/>
          </a:solidFill>
          <a:ln w="12700">
            <a:solidFill>
              <a:schemeClr val="accent1"/>
            </a:solidFill>
            <a:prstDash val="solid"/>
          </a:ln>
        </p:spPr>
      </p:sp>
      <p:sp>
        <p:nvSpPr>
          <p:cNvPr id="23" name="Text 21"/>
          <p:cNvSpPr txBox="1"/>
          <p:nvPr/>
        </p:nvSpPr>
        <p:spPr>
          <a:xfrm>
            <a:off x="7589520" y="1783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7589520" y="2423160"/>
            <a:ext cx="1737360" cy="411480"/>
          </a:xfrm>
          <a:prstGeom prst="rect">
            <a:avLst/>
          </a:prstGeom>
          <a:noFill/>
          <a:ln/>
        </p:spPr>
        <p:txBody>
          <a:bodyPr wrap="square" lIns="0" tIns="0" rIns="0" bIns="0" rtlCol="0" anchor="t"/>
          <a:lstStyle/>
          <a:p>
            <a:pPr indent="0" marL="0">
              <a:buNone/>
            </a:pPr>
            <a:r>
              <a:rPr lang="en-US" sz="2000" b="1" dirty="0">
                <a:solidFill>
                  <a:schemeClr val="tx1"/>
                </a:solidFill>
              </a:rPr>
              <a:t>Reassess</a:t>
            </a:r>
            <a:endParaRPr lang="en-US" sz="2000" dirty="0"/>
          </a:p>
        </p:txBody>
      </p:sp>
      <p:sp>
        <p:nvSpPr>
          <p:cNvPr id="25" name="Text 23"/>
          <p:cNvSpPr txBox="1"/>
          <p:nvPr/>
        </p:nvSpPr>
        <p:spPr>
          <a:xfrm>
            <a:off x="7589520" y="2880360"/>
            <a:ext cx="1737360" cy="2011680"/>
          </a:xfrm>
          <a:prstGeom prst="rect">
            <a:avLst/>
          </a:prstGeom>
          <a:noFill/>
          <a:ln/>
        </p:spPr>
        <p:txBody>
          <a:bodyPr wrap="square" lIns="0" tIns="0" rIns="0" bIns="0" rtlCol="0" anchor="t"/>
          <a:lstStyle/>
          <a:p>
            <a:pPr indent="0" marL="0">
              <a:buNone/>
            </a:pPr>
            <a:r>
              <a:rPr lang="en-US" sz="1300" dirty="0">
                <a:solidFill>
                  <a:schemeClr val="tx2"/>
                </a:solidFill>
              </a:rPr>
              <a:t>New transfer questions plus a trap question built to catch the old idea. One right answer is never enough.</a:t>
            </a:r>
            <a:endParaRPr lang="en-US" sz="1300" dirty="0"/>
          </a:p>
        </p:txBody>
      </p:sp>
      <p:sp>
        <p:nvSpPr>
          <p:cNvPr id="26" name="arrow 3"/>
          <p:cNvSpPr/>
          <p:nvPr/>
        </p:nvSpPr>
        <p:spPr>
          <a:xfrm>
            <a:off x="9482328" y="3108960"/>
            <a:ext cx="182880" cy="274320"/>
          </a:xfrm>
          <a:prstGeom prst="rightArrow">
            <a:avLst/>
          </a:prstGeom>
          <a:solidFill>
            <a:schemeClr val="accent2"/>
          </a:solidFill>
          <a:ln w="12700">
            <a:solidFill>
              <a:schemeClr val="accent2"/>
            </a:solidFill>
            <a:prstDash val="solid"/>
          </a:ln>
        </p:spPr>
      </p:sp>
      <p:sp>
        <p:nvSpPr>
          <p:cNvPr id="27" name="step Lock in"/>
          <p:cNvSpPr/>
          <p:nvPr/>
        </p:nvSpPr>
        <p:spPr>
          <a:xfrm>
            <a:off x="9692640" y="1554480"/>
            <a:ext cx="2057400" cy="3383280"/>
          </a:xfrm>
          <a:prstGeom prst="roundRect">
            <a:avLst>
              <a:gd name="adj" fmla="val 5333"/>
            </a:avLst>
          </a:prstGeom>
          <a:solidFill>
            <a:schemeClr val="bg2"/>
          </a:solidFill>
          <a:ln w="9525">
            <a:solidFill>
              <a:schemeClr val="bg2"/>
            </a:solidFill>
            <a:prstDash val="solid"/>
          </a:ln>
        </p:spPr>
      </p:sp>
      <p:sp>
        <p:nvSpPr>
          <p:cNvPr id="28" name="step badge 5"/>
          <p:cNvSpPr/>
          <p:nvPr/>
        </p:nvSpPr>
        <p:spPr>
          <a:xfrm>
            <a:off x="9875520" y="1783080"/>
            <a:ext cx="502920" cy="502920"/>
          </a:xfrm>
          <a:prstGeom prst="ellipse">
            <a:avLst/>
          </a:prstGeom>
          <a:solidFill>
            <a:schemeClr val="accent1"/>
          </a:solidFill>
          <a:ln w="12700">
            <a:solidFill>
              <a:schemeClr val="accent1"/>
            </a:solidFill>
            <a:prstDash val="solid"/>
          </a:ln>
        </p:spPr>
      </p:sp>
      <p:sp>
        <p:nvSpPr>
          <p:cNvPr id="29" name="Text 27"/>
          <p:cNvSpPr txBox="1"/>
          <p:nvPr/>
        </p:nvSpPr>
        <p:spPr>
          <a:xfrm>
            <a:off x="9875520" y="1783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Text 28"/>
          <p:cNvSpPr txBox="1"/>
          <p:nvPr/>
        </p:nvSpPr>
        <p:spPr>
          <a:xfrm>
            <a:off x="9875520" y="2423160"/>
            <a:ext cx="1737360" cy="411480"/>
          </a:xfrm>
          <a:prstGeom prst="rect">
            <a:avLst/>
          </a:prstGeom>
          <a:noFill/>
          <a:ln/>
        </p:spPr>
        <p:txBody>
          <a:bodyPr wrap="square" lIns="0" tIns="0" rIns="0" bIns="0" rtlCol="0" anchor="t"/>
          <a:lstStyle/>
          <a:p>
            <a:pPr indent="0" marL="0">
              <a:buNone/>
            </a:pPr>
            <a:r>
              <a:rPr lang="en-US" sz="2000" b="1" dirty="0">
                <a:solidFill>
                  <a:schemeClr val="tx1"/>
                </a:solidFill>
              </a:rPr>
              <a:t>Lock in</a:t>
            </a:r>
            <a:endParaRPr lang="en-US" sz="2000" dirty="0"/>
          </a:p>
        </p:txBody>
      </p:sp>
      <p:sp>
        <p:nvSpPr>
          <p:cNvPr id="31" name="Text 29"/>
          <p:cNvSpPr txBox="1"/>
          <p:nvPr/>
        </p:nvSpPr>
        <p:spPr>
          <a:xfrm>
            <a:off x="9875520" y="2880360"/>
            <a:ext cx="1737360" cy="2011680"/>
          </a:xfrm>
          <a:prstGeom prst="rect">
            <a:avLst/>
          </a:prstGeom>
          <a:noFill/>
          <a:ln/>
        </p:spPr>
        <p:txBody>
          <a:bodyPr wrap="square" lIns="0" tIns="0" rIns="0" bIns="0" rtlCol="0" anchor="t"/>
          <a:lstStyle/>
          <a:p>
            <a:pPr indent="0" marL="0">
              <a:buNone/>
            </a:pPr>
            <a:r>
              <a:rPr lang="en-US" sz="1300" dirty="0">
                <a:solidFill>
                  <a:schemeClr val="tx2"/>
                </a:solidFill>
              </a:rPr>
              <a:t>Delayed retest a few questions later, and the student explains the idea back in their own words.</a:t>
            </a:r>
            <a:endParaRPr lang="en-US" sz="1300" dirty="0"/>
          </a:p>
        </p:txBody>
      </p:sp>
      <p:sp>
        <p:nvSpPr>
          <p:cNvPr id="32" name="learner model band"/>
          <p:cNvSpPr/>
          <p:nvPr/>
        </p:nvSpPr>
        <p:spPr>
          <a:xfrm>
            <a:off x="548640" y="5166360"/>
            <a:ext cx="11064240" cy="1005840"/>
          </a:xfrm>
          <a:prstGeom prst="roundRect">
            <a:avLst>
              <a:gd name="adj" fmla="val 10909"/>
            </a:avLst>
          </a:prstGeom>
          <a:solidFill>
            <a:schemeClr val="bg2"/>
          </a:solidFill>
          <a:ln w="9525">
            <a:solidFill>
              <a:schemeClr val="bg2"/>
            </a:solidFill>
            <a:prstDash val="solid"/>
          </a:ln>
        </p:spPr>
      </p:sp>
      <p:sp>
        <p:nvSpPr>
          <p:cNvPr id="33" name="Text 31"/>
          <p:cNvSpPr txBox="1"/>
          <p:nvPr/>
        </p:nvSpPr>
        <p:spPr>
          <a:xfrm>
            <a:off x="822960" y="5303520"/>
            <a:ext cx="10607040" cy="731520"/>
          </a:xfrm>
          <a:prstGeom prst="rect">
            <a:avLst/>
          </a:prstGeom>
          <a:noFill/>
          <a:ln/>
        </p:spPr>
        <p:txBody>
          <a:bodyPr wrap="square" lIns="0" tIns="0" rIns="0" bIns="0" rtlCol="0" anchor="ctr"/>
          <a:lstStyle/>
          <a:p>
            <a:pPr indent="0" marL="0">
              <a:buNone/>
            </a:pPr>
            <a:r>
              <a:rPr lang="en-US" sz="1500" b="1" dirty="0">
                <a:solidFill>
                  <a:schemeClr val="accent3"/>
                </a:solidFill>
              </a:rPr>
              <a:t>Learner model underneath every step: </a:t>
            </a:r>
            <a:pPr indent="0" marL="0">
              <a:buNone/>
            </a:pPr>
            <a:r>
              <a:rPr lang="en-US" sz="1500" dirty="0">
                <a:solidFill>
                  <a:schemeClr val="tx1"/>
                </a:solidFill>
              </a:rPr>
              <a:t>per-concept mastery (Bayesian), per-misconception state (active → intervened → resolved → relapsed), and a decision trace for every interaction.</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What a student sees: see it, try it, explain it</a:t>
            </a:r>
            <a:endParaRPr lang="en-US" sz="3000" dirty="0"/>
          </a:p>
        </p:txBody>
      </p:sp>
      <p:sp>
        <p:nvSpPr>
          <p:cNvPr id="3" name="screenshot hint.png frame"/>
          <p:cNvSpPr/>
          <p:nvPr/>
        </p:nvSpPr>
        <p:spPr>
          <a:xfrm>
            <a:off x="502920" y="1396805"/>
            <a:ext cx="3611880" cy="3972951"/>
          </a:xfrm>
          <a:prstGeom prst="roundRect">
            <a:avLst>
              <a:gd name="adj" fmla="val 2025"/>
            </a:avLst>
          </a:prstGeom>
          <a:solidFill>
            <a:schemeClr val="bg2"/>
          </a:solidFill>
          <a:ln w="12700">
            <a:solidFill>
              <a:schemeClr val="accent1"/>
            </a:solidFill>
            <a:prstDash val="solid"/>
          </a:ln>
        </p:spPr>
      </p:sp>
      <p:pic>
        <p:nvPicPr>
          <p:cNvPr id="4" name="screenshot hint.png" descr="screenshot hint.png">    </p:cNvPr>
          <p:cNvPicPr>
            <a:picLocks noChangeAspect="1"/>
          </p:cNvPicPr>
          <p:nvPr/>
        </p:nvPicPr>
        <p:blipFill>
          <a:blip r:embed="rId1"/>
          <a:stretch>
            <a:fillRect/>
          </a:stretch>
        </p:blipFill>
        <p:spPr>
          <a:xfrm>
            <a:off x="548640" y="1442525"/>
            <a:ext cx="3520440" cy="3881511"/>
          </a:xfrm>
          <a:prstGeom prst="rect">
            <a:avLst/>
          </a:prstGeom>
        </p:spPr>
      </p:pic>
      <p:sp>
        <p:nvSpPr>
          <p:cNvPr id="5" name="Text 2"/>
          <p:cNvSpPr txBox="1"/>
          <p:nvPr/>
        </p:nvSpPr>
        <p:spPr>
          <a:xfrm>
            <a:off x="548640" y="5486400"/>
            <a:ext cx="3520440" cy="777240"/>
          </a:xfrm>
          <a:prstGeom prst="rect">
            <a:avLst/>
          </a:prstGeom>
          <a:noFill/>
          <a:ln/>
        </p:spPr>
        <p:txBody>
          <a:bodyPr wrap="square" lIns="0" tIns="0" rIns="0" bIns="0" rtlCol="0" anchor="t"/>
          <a:lstStyle/>
          <a:p>
            <a:pPr indent="0" marL="0">
              <a:buNone/>
            </a:pPr>
            <a:r>
              <a:rPr lang="en-US" sz="1300" dirty="0">
                <a:solidFill>
                  <a:schemeClr val="tx2"/>
                </a:solidFill>
              </a:rPr>
              <a:t>A wrong answer gets a short targeted hint, here with a force diagram that crosses out the force that isn't real</a:t>
            </a:r>
            <a:endParaRPr lang="en-US" sz="1300" dirty="0"/>
          </a:p>
        </p:txBody>
      </p:sp>
      <p:sp>
        <p:nvSpPr>
          <p:cNvPr id="6" name="screenshot simulation_m01.png frame"/>
          <p:cNvSpPr/>
          <p:nvPr/>
        </p:nvSpPr>
        <p:spPr>
          <a:xfrm>
            <a:off x="4251960" y="2120937"/>
            <a:ext cx="3611880" cy="2524685"/>
          </a:xfrm>
          <a:prstGeom prst="roundRect">
            <a:avLst>
              <a:gd name="adj" fmla="val 2897"/>
            </a:avLst>
          </a:prstGeom>
          <a:solidFill>
            <a:schemeClr val="bg2"/>
          </a:solidFill>
          <a:ln w="12700">
            <a:solidFill>
              <a:schemeClr val="accent1"/>
            </a:solidFill>
            <a:prstDash val="solid"/>
          </a:ln>
        </p:spPr>
      </p:sp>
      <p:pic>
        <p:nvPicPr>
          <p:cNvPr id="7" name="screenshot simulation_m01.png" descr="screenshot simulation_m01.png">    </p:cNvPr>
          <p:cNvPicPr>
            <a:picLocks noChangeAspect="1"/>
          </p:cNvPicPr>
          <p:nvPr/>
        </p:nvPicPr>
        <p:blipFill>
          <a:blip r:embed="rId2"/>
          <a:stretch>
            <a:fillRect/>
          </a:stretch>
        </p:blipFill>
        <p:spPr>
          <a:xfrm>
            <a:off x="4297680" y="2166657"/>
            <a:ext cx="3520440" cy="2433245"/>
          </a:xfrm>
          <a:prstGeom prst="rect">
            <a:avLst/>
          </a:prstGeom>
        </p:spPr>
      </p:pic>
      <p:sp>
        <p:nvSpPr>
          <p:cNvPr id="8" name="Text 4"/>
          <p:cNvSpPr txBox="1"/>
          <p:nvPr/>
        </p:nvSpPr>
        <p:spPr>
          <a:xfrm>
            <a:off x="4297680" y="5486400"/>
            <a:ext cx="3520440" cy="777240"/>
          </a:xfrm>
          <a:prstGeom prst="rect">
            <a:avLst/>
          </a:prstGeom>
          <a:noFill/>
          <a:ln/>
        </p:spPr>
        <p:txBody>
          <a:bodyPr wrap="square" lIns="0" tIns="0" rIns="0" bIns="0" rtlCol="0" anchor="t"/>
          <a:lstStyle/>
          <a:p>
            <a:pPr indent="0" marL="0">
              <a:buNone/>
            </a:pPr>
            <a:r>
              <a:rPr lang="en-US" sz="1300" dirty="0">
                <a:solidFill>
                  <a:schemeClr val="tx2"/>
                </a:solidFill>
              </a:rPr>
              <a:t>Or an interactive simulation: set friction to zero and watch the puck keep going with no forward force</a:t>
            </a:r>
            <a:endParaRPr lang="en-US" sz="1300" dirty="0"/>
          </a:p>
        </p:txBody>
      </p:sp>
      <p:sp>
        <p:nvSpPr>
          <p:cNvPr id="9" name="screenshot explain_back.png frame"/>
          <p:cNvSpPr/>
          <p:nvPr/>
        </p:nvSpPr>
        <p:spPr>
          <a:xfrm>
            <a:off x="8001000" y="1396805"/>
            <a:ext cx="3611880" cy="3972951"/>
          </a:xfrm>
          <a:prstGeom prst="roundRect">
            <a:avLst>
              <a:gd name="adj" fmla="val 2025"/>
            </a:avLst>
          </a:prstGeom>
          <a:solidFill>
            <a:schemeClr val="bg2"/>
          </a:solidFill>
          <a:ln w="12700">
            <a:solidFill>
              <a:schemeClr val="accent1"/>
            </a:solidFill>
            <a:prstDash val="solid"/>
          </a:ln>
        </p:spPr>
      </p:sp>
      <p:pic>
        <p:nvPicPr>
          <p:cNvPr id="10" name="screenshot explain_back.png" descr="screenshot explain_back.png">    </p:cNvPr>
          <p:cNvPicPr>
            <a:picLocks noChangeAspect="1"/>
          </p:cNvPicPr>
          <p:nvPr/>
        </p:nvPicPr>
        <p:blipFill>
          <a:blip r:embed="rId3"/>
          <a:stretch>
            <a:fillRect/>
          </a:stretch>
        </p:blipFill>
        <p:spPr>
          <a:xfrm>
            <a:off x="8046720" y="1442525"/>
            <a:ext cx="3520440" cy="3881511"/>
          </a:xfrm>
          <a:prstGeom prst="rect">
            <a:avLst/>
          </a:prstGeom>
        </p:spPr>
      </p:pic>
      <p:sp>
        <p:nvSpPr>
          <p:cNvPr id="11" name="Text 6"/>
          <p:cNvSpPr txBox="1"/>
          <p:nvPr/>
        </p:nvSpPr>
        <p:spPr>
          <a:xfrm>
            <a:off x="8046720" y="5486400"/>
            <a:ext cx="3520440" cy="777240"/>
          </a:xfrm>
          <a:prstGeom prst="rect">
            <a:avLst/>
          </a:prstGeom>
          <a:noFill/>
          <a:ln/>
        </p:spPr>
        <p:txBody>
          <a:bodyPr wrap="square" lIns="0" tIns="0" rIns="0" bIns="0" rtlCol="0" anchor="t"/>
          <a:lstStyle/>
          <a:p>
            <a:pPr indent="0" marL="0">
              <a:buNone/>
            </a:pPr>
            <a:r>
              <a:rPr lang="en-US" sz="1300" dirty="0">
                <a:solidFill>
                  <a:schemeClr val="tx2"/>
                </a:solidFill>
              </a:rPr>
              <a:t>Once the idea is locked in, the student explains it in their own words and the model checks it</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Architecture: an ML pipeline behind a learning-first interface</a:t>
            </a:r>
            <a:endParaRPr lang="en-US" sz="3000" dirty="0"/>
          </a:p>
        </p:txBody>
      </p:sp>
      <p:sp>
        <p:nvSpPr>
          <p:cNvPr id="3" name="arch Content"/>
          <p:cNvSpPr/>
          <p:nvPr/>
        </p:nvSpPr>
        <p:spPr>
          <a:xfrm>
            <a:off x="548640" y="1463040"/>
            <a:ext cx="5394960" cy="1005840"/>
          </a:xfrm>
          <a:prstGeom prst="roundRect">
            <a:avLst>
              <a:gd name="adj" fmla="val 10909"/>
            </a:avLst>
          </a:prstGeom>
          <a:solidFill>
            <a:schemeClr val="bg2"/>
          </a:solidFill>
          <a:ln w="9525">
            <a:solidFill>
              <a:schemeClr val="bg2"/>
            </a:solidFill>
            <a:prstDash val="solid"/>
          </a:ln>
        </p:spPr>
      </p:sp>
      <p:sp>
        <p:nvSpPr>
          <p:cNvPr id="4" name="Text 2"/>
          <p:cNvSpPr txBox="1"/>
          <p:nvPr/>
        </p:nvSpPr>
        <p:spPr>
          <a:xfrm>
            <a:off x="777240" y="1600200"/>
            <a:ext cx="4937760" cy="320040"/>
          </a:xfrm>
          <a:prstGeom prst="rect">
            <a:avLst/>
          </a:prstGeom>
          <a:noFill/>
          <a:ln/>
        </p:spPr>
        <p:txBody>
          <a:bodyPr wrap="square" lIns="0" tIns="0" rIns="0" bIns="0" rtlCol="0" anchor="t"/>
          <a:lstStyle/>
          <a:p>
            <a:pPr indent="0" marL="0">
              <a:buNone/>
            </a:pPr>
            <a:r>
              <a:rPr lang="en-US" sz="1700" b="1" dirty="0">
                <a:solidFill>
                  <a:schemeClr val="accent2"/>
                </a:solidFill>
              </a:rPr>
              <a:t>Content</a:t>
            </a:r>
            <a:endParaRPr lang="en-US" sz="1700" dirty="0"/>
          </a:p>
        </p:txBody>
      </p:sp>
      <p:sp>
        <p:nvSpPr>
          <p:cNvPr id="5" name="Text 3"/>
          <p:cNvSpPr txBox="1"/>
          <p:nvPr/>
        </p:nvSpPr>
        <p:spPr>
          <a:xfrm>
            <a:off x="777240" y="1938528"/>
            <a:ext cx="4937760" cy="457200"/>
          </a:xfrm>
          <a:prstGeom prst="rect">
            <a:avLst/>
          </a:prstGeom>
          <a:noFill/>
          <a:ln/>
        </p:spPr>
        <p:txBody>
          <a:bodyPr wrap="square" lIns="0" tIns="0" rIns="0" bIns="0" rtlCol="0" anchor="t"/>
          <a:lstStyle/>
          <a:p>
            <a:pPr indent="0" marL="0">
              <a:buNone/>
            </a:pPr>
            <a:r>
              <a:rPr lang="en-US" sz="1300" dirty="0">
                <a:solidFill>
                  <a:schemeClr val="tx2"/>
                </a:solidFill>
              </a:rPr>
              <a:t>12 misconceptions · 7 concepts · 48 templates · 66 items · 12 visual specs</a:t>
            </a:r>
            <a:endParaRPr lang="en-US" sz="1300" dirty="0"/>
          </a:p>
        </p:txBody>
      </p:sp>
      <p:sp>
        <p:nvSpPr>
          <p:cNvPr id="6" name="arch Data"/>
          <p:cNvSpPr/>
          <p:nvPr/>
        </p:nvSpPr>
        <p:spPr>
          <a:xfrm>
            <a:off x="548640" y="2651760"/>
            <a:ext cx="5394960" cy="1005840"/>
          </a:xfrm>
          <a:prstGeom prst="roundRect">
            <a:avLst>
              <a:gd name="adj" fmla="val 10909"/>
            </a:avLst>
          </a:prstGeom>
          <a:solidFill>
            <a:schemeClr val="bg2"/>
          </a:solidFill>
          <a:ln w="9525">
            <a:solidFill>
              <a:schemeClr val="bg2"/>
            </a:solidFill>
            <a:prstDash val="solid"/>
          </a:ln>
        </p:spPr>
      </p:sp>
      <p:sp>
        <p:nvSpPr>
          <p:cNvPr id="7" name="Text 5"/>
          <p:cNvSpPr txBox="1"/>
          <p:nvPr/>
        </p:nvSpPr>
        <p:spPr>
          <a:xfrm>
            <a:off x="777240" y="2788920"/>
            <a:ext cx="4937760" cy="320040"/>
          </a:xfrm>
          <a:prstGeom prst="rect">
            <a:avLst/>
          </a:prstGeom>
          <a:noFill/>
          <a:ln/>
        </p:spPr>
        <p:txBody>
          <a:bodyPr wrap="square" lIns="0" tIns="0" rIns="0" bIns="0" rtlCol="0" anchor="t"/>
          <a:lstStyle/>
          <a:p>
            <a:pPr indent="0" marL="0">
              <a:buNone/>
            </a:pPr>
            <a:r>
              <a:rPr lang="en-US" sz="1700" b="1" dirty="0">
                <a:solidFill>
                  <a:schemeClr val="accent2"/>
                </a:solidFill>
              </a:rPr>
              <a:t>Data</a:t>
            </a:r>
            <a:endParaRPr lang="en-US" sz="1700" dirty="0"/>
          </a:p>
        </p:txBody>
      </p:sp>
      <p:sp>
        <p:nvSpPr>
          <p:cNvPr id="8" name="Text 6"/>
          <p:cNvSpPr txBox="1"/>
          <p:nvPr/>
        </p:nvSpPr>
        <p:spPr>
          <a:xfrm>
            <a:off x="777240" y="3127248"/>
            <a:ext cx="4937760" cy="457200"/>
          </a:xfrm>
          <a:prstGeom prst="rect">
            <a:avLst/>
          </a:prstGeom>
          <a:noFill/>
          <a:ln/>
        </p:spPr>
        <p:txBody>
          <a:bodyPr wrap="square" lIns="0" tIns="0" rIns="0" bIns="0" rtlCol="0" anchor="t"/>
          <a:lstStyle/>
          <a:p>
            <a:pPr indent="0" marL="0">
              <a:buNone/>
            </a:pPr>
            <a:r>
              <a:rPr lang="en-US" sz="1300" dirty="0">
                <a:solidFill>
                  <a:schemeClr val="tx2"/>
                </a:solidFill>
              </a:rPr>
              <a:t>Template generator → clean → dedupe → split by template</a:t>
            </a:r>
            <a:endParaRPr lang="en-US" sz="1300" dirty="0"/>
          </a:p>
        </p:txBody>
      </p:sp>
      <p:sp>
        <p:nvSpPr>
          <p:cNvPr id="9" name="arch Models"/>
          <p:cNvSpPr/>
          <p:nvPr/>
        </p:nvSpPr>
        <p:spPr>
          <a:xfrm>
            <a:off x="548640" y="3840480"/>
            <a:ext cx="5394960" cy="1005840"/>
          </a:xfrm>
          <a:prstGeom prst="roundRect">
            <a:avLst>
              <a:gd name="adj" fmla="val 10909"/>
            </a:avLst>
          </a:prstGeom>
          <a:solidFill>
            <a:schemeClr val="bg2"/>
          </a:solidFill>
          <a:ln w="9525">
            <a:solidFill>
              <a:schemeClr val="bg2"/>
            </a:solidFill>
            <a:prstDash val="solid"/>
          </a:ln>
        </p:spPr>
      </p:sp>
      <p:sp>
        <p:nvSpPr>
          <p:cNvPr id="10" name="Text 8"/>
          <p:cNvSpPr txBox="1"/>
          <p:nvPr/>
        </p:nvSpPr>
        <p:spPr>
          <a:xfrm>
            <a:off x="777240" y="3977640"/>
            <a:ext cx="4937760" cy="320040"/>
          </a:xfrm>
          <a:prstGeom prst="rect">
            <a:avLst/>
          </a:prstGeom>
          <a:noFill/>
          <a:ln/>
        </p:spPr>
        <p:txBody>
          <a:bodyPr wrap="square" lIns="0" tIns="0" rIns="0" bIns="0" rtlCol="0" anchor="t"/>
          <a:lstStyle/>
          <a:p>
            <a:pPr indent="0" marL="0">
              <a:buNone/>
            </a:pPr>
            <a:r>
              <a:rPr lang="en-US" sz="1700" b="1" dirty="0">
                <a:solidFill>
                  <a:schemeClr val="accent2"/>
                </a:solidFill>
              </a:rPr>
              <a:t>Models</a:t>
            </a:r>
            <a:endParaRPr lang="en-US" sz="1700" dirty="0"/>
          </a:p>
        </p:txBody>
      </p:sp>
      <p:sp>
        <p:nvSpPr>
          <p:cNvPr id="11" name="Text 9"/>
          <p:cNvSpPr txBox="1"/>
          <p:nvPr/>
        </p:nvSpPr>
        <p:spPr>
          <a:xfrm>
            <a:off x="777240" y="4315968"/>
            <a:ext cx="4937760" cy="457200"/>
          </a:xfrm>
          <a:prstGeom prst="rect">
            <a:avLst/>
          </a:prstGeom>
          <a:noFill/>
          <a:ln/>
        </p:spPr>
        <p:txBody>
          <a:bodyPr wrap="square" lIns="0" tIns="0" rIns="0" bIns="0" rtlCol="0" anchor="t"/>
          <a:lstStyle/>
          <a:p>
            <a:pPr indent="0" marL="0">
              <a:buNone/>
            </a:pPr>
            <a:r>
              <a:rPr lang="en-US" sz="1300" dirty="0">
                <a:solidFill>
                  <a:schemeClr val="tx2"/>
                </a:solidFill>
              </a:rPr>
              <a:t>TF-IDF baseline · MiniLM + TF-IDF hybrid · temperature calibration</a:t>
            </a:r>
            <a:endParaRPr lang="en-US" sz="1300" dirty="0"/>
          </a:p>
        </p:txBody>
      </p:sp>
      <p:sp>
        <p:nvSpPr>
          <p:cNvPr id="12" name="arch Diagnosis"/>
          <p:cNvSpPr/>
          <p:nvPr/>
        </p:nvSpPr>
        <p:spPr>
          <a:xfrm>
            <a:off x="548640" y="5029200"/>
            <a:ext cx="5394960" cy="1005840"/>
          </a:xfrm>
          <a:prstGeom prst="roundRect">
            <a:avLst>
              <a:gd name="adj" fmla="val 10909"/>
            </a:avLst>
          </a:prstGeom>
          <a:solidFill>
            <a:schemeClr val="bg2"/>
          </a:solidFill>
          <a:ln w="9525">
            <a:solidFill>
              <a:schemeClr val="bg2"/>
            </a:solidFill>
            <a:prstDash val="solid"/>
          </a:ln>
        </p:spPr>
      </p:sp>
      <p:sp>
        <p:nvSpPr>
          <p:cNvPr id="13" name="Text 11"/>
          <p:cNvSpPr txBox="1"/>
          <p:nvPr/>
        </p:nvSpPr>
        <p:spPr>
          <a:xfrm>
            <a:off x="777240" y="5166360"/>
            <a:ext cx="4937760" cy="320040"/>
          </a:xfrm>
          <a:prstGeom prst="rect">
            <a:avLst/>
          </a:prstGeom>
          <a:noFill/>
          <a:ln/>
        </p:spPr>
        <p:txBody>
          <a:bodyPr wrap="square" lIns="0" tIns="0" rIns="0" bIns="0" rtlCol="0" anchor="t"/>
          <a:lstStyle/>
          <a:p>
            <a:pPr indent="0" marL="0">
              <a:buNone/>
            </a:pPr>
            <a:r>
              <a:rPr lang="en-US" sz="1700" b="1" dirty="0">
                <a:solidFill>
                  <a:schemeClr val="accent2"/>
                </a:solidFill>
              </a:rPr>
              <a:t>Diagnosis</a:t>
            </a:r>
            <a:endParaRPr lang="en-US" sz="1700" dirty="0"/>
          </a:p>
        </p:txBody>
      </p:sp>
      <p:sp>
        <p:nvSpPr>
          <p:cNvPr id="14" name="Text 12"/>
          <p:cNvSpPr txBox="1"/>
          <p:nvPr/>
        </p:nvSpPr>
        <p:spPr>
          <a:xfrm>
            <a:off x="777240" y="5504688"/>
            <a:ext cx="4937760" cy="457200"/>
          </a:xfrm>
          <a:prstGeom prst="rect">
            <a:avLst/>
          </a:prstGeom>
          <a:noFill/>
          <a:ln/>
        </p:spPr>
        <p:txBody>
          <a:bodyPr wrap="square" lIns="0" tIns="0" rIns="0" bIns="0" rtlCol="0" anchor="t"/>
          <a:lstStyle/>
          <a:p>
            <a:pPr indent="0" marL="0">
              <a:buNone/>
            </a:pPr>
            <a:r>
              <a:rPr lang="en-US" sz="1300" dirty="0">
                <a:solidFill>
                  <a:schemeClr val="tx2"/>
                </a:solidFill>
              </a:rPr>
              <a:t>Routing by confidence · information-gain probes · novelty flag</a:t>
            </a:r>
            <a:endParaRPr lang="en-US" sz="1300" dirty="0"/>
          </a:p>
        </p:txBody>
      </p:sp>
      <p:sp>
        <p:nvSpPr>
          <p:cNvPr id="15" name="arch Teaching"/>
          <p:cNvSpPr/>
          <p:nvPr/>
        </p:nvSpPr>
        <p:spPr>
          <a:xfrm>
            <a:off x="6217920" y="1463040"/>
            <a:ext cx="5394960" cy="1005840"/>
          </a:xfrm>
          <a:prstGeom prst="roundRect">
            <a:avLst>
              <a:gd name="adj" fmla="val 10909"/>
            </a:avLst>
          </a:prstGeom>
          <a:solidFill>
            <a:schemeClr val="bg2"/>
          </a:solidFill>
          <a:ln w="9525">
            <a:solidFill>
              <a:schemeClr val="bg2"/>
            </a:solidFill>
            <a:prstDash val="solid"/>
          </a:ln>
        </p:spPr>
      </p:sp>
      <p:sp>
        <p:nvSpPr>
          <p:cNvPr id="16" name="Text 14"/>
          <p:cNvSpPr txBox="1"/>
          <p:nvPr/>
        </p:nvSpPr>
        <p:spPr>
          <a:xfrm>
            <a:off x="6446520" y="1600200"/>
            <a:ext cx="4937760" cy="320040"/>
          </a:xfrm>
          <a:prstGeom prst="rect">
            <a:avLst/>
          </a:prstGeom>
          <a:noFill/>
          <a:ln/>
        </p:spPr>
        <p:txBody>
          <a:bodyPr wrap="square" lIns="0" tIns="0" rIns="0" bIns="0" rtlCol="0" anchor="t"/>
          <a:lstStyle/>
          <a:p>
            <a:pPr indent="0" marL="0">
              <a:buNone/>
            </a:pPr>
            <a:r>
              <a:rPr lang="en-US" sz="1700" b="1" dirty="0">
                <a:solidFill>
                  <a:schemeClr val="accent2"/>
                </a:solidFill>
              </a:rPr>
              <a:t>Teaching</a:t>
            </a:r>
            <a:endParaRPr lang="en-US" sz="1700" dirty="0"/>
          </a:p>
        </p:txBody>
      </p:sp>
      <p:sp>
        <p:nvSpPr>
          <p:cNvPr id="17" name="Text 15"/>
          <p:cNvSpPr txBox="1"/>
          <p:nvPr/>
        </p:nvSpPr>
        <p:spPr>
          <a:xfrm>
            <a:off x="6446520" y="1938528"/>
            <a:ext cx="4937760" cy="457200"/>
          </a:xfrm>
          <a:prstGeom prst="rect">
            <a:avLst/>
          </a:prstGeom>
          <a:noFill/>
          <a:ln/>
        </p:spPr>
        <p:txBody>
          <a:bodyPr wrap="square" lIns="0" tIns="0" rIns="0" bIns="0" rtlCol="0" anchor="t"/>
          <a:lstStyle/>
          <a:p>
            <a:pPr indent="0" marL="0">
              <a:buNone/>
            </a:pPr>
            <a:r>
              <a:rPr lang="en-US" sz="1300" dirty="0">
                <a:solidFill>
                  <a:schemeClr val="tx2"/>
                </a:solidFill>
              </a:rPr>
              <a:t>Strategies × modality (text, diagram, simulation) via Thompson sampling · retrieval grounding</a:t>
            </a:r>
            <a:endParaRPr lang="en-US" sz="1300" dirty="0"/>
          </a:p>
        </p:txBody>
      </p:sp>
      <p:sp>
        <p:nvSpPr>
          <p:cNvPr id="18" name="arch Assessment"/>
          <p:cNvSpPr/>
          <p:nvPr/>
        </p:nvSpPr>
        <p:spPr>
          <a:xfrm>
            <a:off x="6217920" y="2651760"/>
            <a:ext cx="5394960" cy="1005840"/>
          </a:xfrm>
          <a:prstGeom prst="roundRect">
            <a:avLst>
              <a:gd name="adj" fmla="val 10909"/>
            </a:avLst>
          </a:prstGeom>
          <a:solidFill>
            <a:schemeClr val="bg2"/>
          </a:solidFill>
          <a:ln w="9525">
            <a:solidFill>
              <a:schemeClr val="bg2"/>
            </a:solidFill>
            <a:prstDash val="solid"/>
          </a:ln>
        </p:spPr>
      </p:sp>
      <p:sp>
        <p:nvSpPr>
          <p:cNvPr id="19" name="Text 17"/>
          <p:cNvSpPr txBox="1"/>
          <p:nvPr/>
        </p:nvSpPr>
        <p:spPr>
          <a:xfrm>
            <a:off x="6446520" y="2788920"/>
            <a:ext cx="4937760" cy="320040"/>
          </a:xfrm>
          <a:prstGeom prst="rect">
            <a:avLst/>
          </a:prstGeom>
          <a:noFill/>
          <a:ln/>
        </p:spPr>
        <p:txBody>
          <a:bodyPr wrap="square" lIns="0" tIns="0" rIns="0" bIns="0" rtlCol="0" anchor="t"/>
          <a:lstStyle/>
          <a:p>
            <a:pPr indent="0" marL="0">
              <a:buNone/>
            </a:pPr>
            <a:r>
              <a:rPr lang="en-US" sz="1700" b="1" dirty="0">
                <a:solidFill>
                  <a:schemeClr val="accent2"/>
                </a:solidFill>
              </a:rPr>
              <a:t>Assessment</a:t>
            </a:r>
            <a:endParaRPr lang="en-US" sz="1700" dirty="0"/>
          </a:p>
        </p:txBody>
      </p:sp>
      <p:sp>
        <p:nvSpPr>
          <p:cNvPr id="20" name="Text 18"/>
          <p:cNvSpPr txBox="1"/>
          <p:nvPr/>
        </p:nvSpPr>
        <p:spPr>
          <a:xfrm>
            <a:off x="6446520" y="3127248"/>
            <a:ext cx="4937760" cy="457200"/>
          </a:xfrm>
          <a:prstGeom prst="rect">
            <a:avLst/>
          </a:prstGeom>
          <a:noFill/>
          <a:ln/>
        </p:spPr>
        <p:txBody>
          <a:bodyPr wrap="square" lIns="0" tIns="0" rIns="0" bIns="0" rtlCol="0" anchor="t"/>
          <a:lstStyle/>
          <a:p>
            <a:pPr indent="0" marL="0">
              <a:buNone/>
            </a:pPr>
            <a:r>
              <a:rPr lang="en-US" sz="1300" dirty="0">
                <a:solidFill>
                  <a:schemeClr val="tx2"/>
                </a:solidFill>
              </a:rPr>
              <a:t>Transfer + trap · delayed retest · explain-it-back</a:t>
            </a:r>
            <a:endParaRPr lang="en-US" sz="1300" dirty="0"/>
          </a:p>
        </p:txBody>
      </p:sp>
      <p:sp>
        <p:nvSpPr>
          <p:cNvPr id="21" name="arch Learner model"/>
          <p:cNvSpPr/>
          <p:nvPr/>
        </p:nvSpPr>
        <p:spPr>
          <a:xfrm>
            <a:off x="6217920" y="3840480"/>
            <a:ext cx="5394960" cy="1005840"/>
          </a:xfrm>
          <a:prstGeom prst="roundRect">
            <a:avLst>
              <a:gd name="adj" fmla="val 10909"/>
            </a:avLst>
          </a:prstGeom>
          <a:solidFill>
            <a:schemeClr val="bg2"/>
          </a:solidFill>
          <a:ln w="9525">
            <a:solidFill>
              <a:schemeClr val="bg2"/>
            </a:solidFill>
            <a:prstDash val="solid"/>
          </a:ln>
        </p:spPr>
      </p:sp>
      <p:sp>
        <p:nvSpPr>
          <p:cNvPr id="22" name="Text 20"/>
          <p:cNvSpPr txBox="1"/>
          <p:nvPr/>
        </p:nvSpPr>
        <p:spPr>
          <a:xfrm>
            <a:off x="6446520" y="3977640"/>
            <a:ext cx="4937760" cy="320040"/>
          </a:xfrm>
          <a:prstGeom prst="rect">
            <a:avLst/>
          </a:prstGeom>
          <a:noFill/>
          <a:ln/>
        </p:spPr>
        <p:txBody>
          <a:bodyPr wrap="square" lIns="0" tIns="0" rIns="0" bIns="0" rtlCol="0" anchor="t"/>
          <a:lstStyle/>
          <a:p>
            <a:pPr indent="0" marL="0">
              <a:buNone/>
            </a:pPr>
            <a:r>
              <a:rPr lang="en-US" sz="1700" b="1" dirty="0">
                <a:solidFill>
                  <a:schemeClr val="accent2"/>
                </a:solidFill>
              </a:rPr>
              <a:t>Learner model</a:t>
            </a:r>
            <a:endParaRPr lang="en-US" sz="1700" dirty="0"/>
          </a:p>
        </p:txBody>
      </p:sp>
      <p:sp>
        <p:nvSpPr>
          <p:cNvPr id="23" name="Text 21"/>
          <p:cNvSpPr txBox="1"/>
          <p:nvPr/>
        </p:nvSpPr>
        <p:spPr>
          <a:xfrm>
            <a:off x="6446520" y="4315968"/>
            <a:ext cx="4937760" cy="457200"/>
          </a:xfrm>
          <a:prstGeom prst="rect">
            <a:avLst/>
          </a:prstGeom>
          <a:noFill/>
          <a:ln/>
        </p:spPr>
        <p:txBody>
          <a:bodyPr wrap="square" lIns="0" tIns="0" rIns="0" bIns="0" rtlCol="0" anchor="t"/>
          <a:lstStyle/>
          <a:p>
            <a:pPr indent="0" marL="0">
              <a:buNone/>
            </a:pPr>
            <a:r>
              <a:rPr lang="en-US" sz="1300" dirty="0">
                <a:solidFill>
                  <a:schemeClr val="tx2"/>
                </a:solidFill>
              </a:rPr>
              <a:t>Beta mastery per concept · misconception state machine · SQLite store</a:t>
            </a:r>
            <a:endParaRPr lang="en-US" sz="1300" dirty="0"/>
          </a:p>
        </p:txBody>
      </p:sp>
      <p:sp>
        <p:nvSpPr>
          <p:cNvPr id="24" name="interfaces"/>
          <p:cNvSpPr/>
          <p:nvPr/>
        </p:nvSpPr>
        <p:spPr>
          <a:xfrm>
            <a:off x="6217920" y="5029200"/>
            <a:ext cx="5394960" cy="1005840"/>
          </a:xfrm>
          <a:prstGeom prst="roundRect">
            <a:avLst>
              <a:gd name="adj" fmla="val 10909"/>
            </a:avLst>
          </a:prstGeom>
          <a:solidFill>
            <a:schemeClr val="accent1"/>
          </a:solidFill>
          <a:ln w="9525">
            <a:solidFill>
              <a:schemeClr val="bg2"/>
            </a:solidFill>
            <a:prstDash val="solid"/>
          </a:ln>
        </p:spPr>
      </p:sp>
      <p:sp>
        <p:nvSpPr>
          <p:cNvPr id="25" name="Text 23"/>
          <p:cNvSpPr txBox="1"/>
          <p:nvPr/>
        </p:nvSpPr>
        <p:spPr>
          <a:xfrm>
            <a:off x="6446520" y="5166360"/>
            <a:ext cx="4937760" cy="320040"/>
          </a:xfrm>
          <a:prstGeom prst="rect">
            <a:avLst/>
          </a:prstGeom>
          <a:noFill/>
          <a:ln/>
        </p:spPr>
        <p:txBody>
          <a:bodyPr wrap="square" lIns="0" tIns="0" rIns="0" bIns="0" rtlCol="0" anchor="t"/>
          <a:lstStyle/>
          <a:p>
            <a:pPr indent="0" marL="0">
              <a:buNone/>
            </a:pPr>
            <a:r>
              <a:rPr lang="en-US" sz="1700" b="1" dirty="0">
                <a:solidFill>
                  <a:schemeClr val="tx1"/>
                </a:solidFill>
              </a:rPr>
              <a:t>Two views</a:t>
            </a:r>
            <a:endParaRPr lang="en-US" sz="1700" dirty="0"/>
          </a:p>
        </p:txBody>
      </p:sp>
      <p:sp>
        <p:nvSpPr>
          <p:cNvPr id="26" name="Text 24"/>
          <p:cNvSpPr txBox="1"/>
          <p:nvPr/>
        </p:nvSpPr>
        <p:spPr>
          <a:xfrm>
            <a:off x="6446520" y="5550408"/>
            <a:ext cx="4937760" cy="457200"/>
          </a:xfrm>
          <a:prstGeom prst="rect">
            <a:avLst/>
          </a:prstGeom>
          <a:noFill/>
          <a:ln/>
        </p:spPr>
        <p:txBody>
          <a:bodyPr wrap="square" lIns="0" tIns="0" rIns="0" bIns="0" rtlCol="0" anchor="t"/>
          <a:lstStyle/>
          <a:p>
            <a:pPr indent="0" marL="0">
              <a:buNone/>
            </a:pPr>
            <a:r>
              <a:rPr lang="en-US" sz="1300" dirty="0">
                <a:solidFill>
                  <a:schemeClr val="tx1"/>
                </a:solidFill>
              </a:rPr>
              <a:t>Student view with no AI jargon · Insights view for teachers and judges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Evaluation built to test generalisation, not memory</a:t>
            </a:r>
            <a:endParaRPr lang="en-US" sz="3000" dirty="0"/>
          </a:p>
        </p:txBody>
      </p:sp>
      <p:sp>
        <p:nvSpPr>
          <p:cNvPr id="3" name="stat 0"/>
          <p:cNvSpPr/>
          <p:nvPr/>
        </p:nvSpPr>
        <p:spPr>
          <a:xfrm>
            <a:off x="548640" y="1554480"/>
            <a:ext cx="2606040" cy="2651760"/>
          </a:xfrm>
          <a:prstGeom prst="roundRect">
            <a:avLst>
              <a:gd name="adj" fmla="val 4211"/>
            </a:avLst>
          </a:prstGeom>
          <a:solidFill>
            <a:schemeClr val="bg2"/>
          </a:solidFill>
          <a:ln w="9525">
            <a:solidFill>
              <a:schemeClr val="bg2"/>
            </a:solidFill>
            <a:prstDash val="solid"/>
          </a:ln>
        </p:spPr>
      </p:sp>
      <p:sp>
        <p:nvSpPr>
          <p:cNvPr id="4" name="Text 2"/>
          <p:cNvSpPr txBox="1"/>
          <p:nvPr/>
        </p:nvSpPr>
        <p:spPr>
          <a:xfrm>
            <a:off x="777240" y="1783080"/>
            <a:ext cx="2194560" cy="914400"/>
          </a:xfrm>
          <a:prstGeom prst="rect">
            <a:avLst/>
          </a:prstGeom>
          <a:noFill/>
          <a:ln/>
        </p:spPr>
        <p:txBody>
          <a:bodyPr wrap="square" lIns="0" tIns="0" rIns="0" bIns="0" rtlCol="0" anchor="t"/>
          <a:lstStyle/>
          <a:p>
            <a:pPr indent="0" marL="0">
              <a:buNone/>
            </a:pPr>
            <a:r>
              <a:rPr lang="en-US" sz="4800" b="1" dirty="0">
                <a:solidFill>
                  <a:schemeClr val="accent2"/>
                </a:solidFill>
              </a:rPr>
              <a:t>2,296</a:t>
            </a:r>
            <a:endParaRPr lang="en-US" sz="4800" dirty="0"/>
          </a:p>
        </p:txBody>
      </p:sp>
      <p:sp>
        <p:nvSpPr>
          <p:cNvPr id="5" name="Text 3"/>
          <p:cNvSpPr txBox="1"/>
          <p:nvPr/>
        </p:nvSpPr>
        <p:spPr>
          <a:xfrm>
            <a:off x="777240" y="2788920"/>
            <a:ext cx="2194560" cy="1280160"/>
          </a:xfrm>
          <a:prstGeom prst="rect">
            <a:avLst/>
          </a:prstGeom>
          <a:noFill/>
          <a:ln/>
        </p:spPr>
        <p:txBody>
          <a:bodyPr wrap="square" lIns="0" tIns="0" rIns="0" bIns="0" rtlCol="0" anchor="t"/>
          <a:lstStyle/>
          <a:p>
            <a:pPr indent="0" marL="0">
              <a:buNone/>
            </a:pPr>
            <a:r>
              <a:rPr lang="en-US" sz="1400" dirty="0">
                <a:solidFill>
                  <a:schemeClr val="tx2"/>
                </a:solidFill>
              </a:rPr>
              <a:t>synthetic answers with reasoning, 13 classes (12 misconceptions + correct)</a:t>
            </a:r>
            <a:endParaRPr lang="en-US" sz="1400" dirty="0"/>
          </a:p>
        </p:txBody>
      </p:sp>
      <p:sp>
        <p:nvSpPr>
          <p:cNvPr id="6" name="stat 1"/>
          <p:cNvSpPr/>
          <p:nvPr/>
        </p:nvSpPr>
        <p:spPr>
          <a:xfrm>
            <a:off x="3383280" y="1554480"/>
            <a:ext cx="2606040" cy="2651760"/>
          </a:xfrm>
          <a:prstGeom prst="roundRect">
            <a:avLst>
              <a:gd name="adj" fmla="val 4211"/>
            </a:avLst>
          </a:prstGeom>
          <a:solidFill>
            <a:schemeClr val="bg2"/>
          </a:solidFill>
          <a:ln w="9525">
            <a:solidFill>
              <a:schemeClr val="bg2"/>
            </a:solidFill>
            <a:prstDash val="solid"/>
          </a:ln>
        </p:spPr>
      </p:sp>
      <p:sp>
        <p:nvSpPr>
          <p:cNvPr id="7" name="Text 5"/>
          <p:cNvSpPr txBox="1"/>
          <p:nvPr/>
        </p:nvSpPr>
        <p:spPr>
          <a:xfrm>
            <a:off x="3611880" y="1783080"/>
            <a:ext cx="2194560" cy="914400"/>
          </a:xfrm>
          <a:prstGeom prst="rect">
            <a:avLst/>
          </a:prstGeom>
          <a:noFill/>
          <a:ln/>
        </p:spPr>
        <p:txBody>
          <a:bodyPr wrap="square" lIns="0" tIns="0" rIns="0" bIns="0" rtlCol="0" anchor="t"/>
          <a:lstStyle/>
          <a:p>
            <a:pPr indent="0" marL="0">
              <a:buNone/>
            </a:pPr>
            <a:r>
              <a:rPr lang="en-US" sz="4800" b="1" dirty="0">
                <a:solidFill>
                  <a:schemeClr val="accent2"/>
                </a:solidFill>
              </a:rPr>
              <a:t>631</a:t>
            </a:r>
            <a:endParaRPr lang="en-US" sz="4800" dirty="0"/>
          </a:p>
        </p:txBody>
      </p:sp>
      <p:sp>
        <p:nvSpPr>
          <p:cNvPr id="8" name="Text 6"/>
          <p:cNvSpPr txBox="1"/>
          <p:nvPr/>
        </p:nvSpPr>
        <p:spPr>
          <a:xfrm>
            <a:off x="3611880" y="2788920"/>
            <a:ext cx="2194560" cy="1280160"/>
          </a:xfrm>
          <a:prstGeom prst="rect">
            <a:avLst/>
          </a:prstGeom>
          <a:noFill/>
          <a:ln/>
        </p:spPr>
        <p:txBody>
          <a:bodyPr wrap="square" lIns="0" tIns="0" rIns="0" bIns="0" rtlCol="0" anchor="t"/>
          <a:lstStyle/>
          <a:p>
            <a:pPr indent="0" marL="0">
              <a:buNone/>
            </a:pPr>
            <a:r>
              <a:rPr lang="en-US" sz="1400" dirty="0">
                <a:solidFill>
                  <a:schemeClr val="tx2"/>
                </a:solidFill>
              </a:rPr>
              <a:t>test answers from question templates never seen in training</a:t>
            </a:r>
            <a:endParaRPr lang="en-US" sz="1400" dirty="0"/>
          </a:p>
        </p:txBody>
      </p:sp>
      <p:sp>
        <p:nvSpPr>
          <p:cNvPr id="9" name="stat 2"/>
          <p:cNvSpPr/>
          <p:nvPr/>
        </p:nvSpPr>
        <p:spPr>
          <a:xfrm>
            <a:off x="6217920" y="1554480"/>
            <a:ext cx="2606040" cy="2651760"/>
          </a:xfrm>
          <a:prstGeom prst="roundRect">
            <a:avLst>
              <a:gd name="adj" fmla="val 4211"/>
            </a:avLst>
          </a:prstGeom>
          <a:solidFill>
            <a:schemeClr val="bg2"/>
          </a:solidFill>
          <a:ln w="9525">
            <a:solidFill>
              <a:schemeClr val="bg2"/>
            </a:solidFill>
            <a:prstDash val="solid"/>
          </a:ln>
        </p:spPr>
      </p:sp>
      <p:sp>
        <p:nvSpPr>
          <p:cNvPr id="10" name="Text 8"/>
          <p:cNvSpPr txBox="1"/>
          <p:nvPr/>
        </p:nvSpPr>
        <p:spPr>
          <a:xfrm>
            <a:off x="6446520" y="1783080"/>
            <a:ext cx="2194560" cy="914400"/>
          </a:xfrm>
          <a:prstGeom prst="rect">
            <a:avLst/>
          </a:prstGeom>
          <a:noFill/>
          <a:ln/>
        </p:spPr>
        <p:txBody>
          <a:bodyPr wrap="square" lIns="0" tIns="0" rIns="0" bIns="0" rtlCol="0" anchor="t"/>
          <a:lstStyle/>
          <a:p>
            <a:pPr indent="0" marL="0">
              <a:buNone/>
            </a:pPr>
            <a:r>
              <a:rPr lang="en-US" sz="4800" b="1" dirty="0">
                <a:solidFill>
                  <a:schemeClr val="accent2"/>
                </a:solidFill>
              </a:rPr>
              <a:t>65</a:t>
            </a:r>
            <a:endParaRPr lang="en-US" sz="4800" dirty="0"/>
          </a:p>
        </p:txBody>
      </p:sp>
      <p:sp>
        <p:nvSpPr>
          <p:cNvPr id="11" name="Text 9"/>
          <p:cNvSpPr txBox="1"/>
          <p:nvPr/>
        </p:nvSpPr>
        <p:spPr>
          <a:xfrm>
            <a:off x="6446520" y="2788920"/>
            <a:ext cx="2194560" cy="1280160"/>
          </a:xfrm>
          <a:prstGeom prst="rect">
            <a:avLst/>
          </a:prstGeom>
          <a:noFill/>
          <a:ln/>
        </p:spPr>
        <p:txBody>
          <a:bodyPr wrap="square" lIns="0" tIns="0" rIns="0" bIns="0" rtlCol="0" anchor="t"/>
          <a:lstStyle/>
          <a:p>
            <a:pPr indent="0" marL="0">
              <a:buNone/>
            </a:pPr>
            <a:r>
              <a:rPr lang="en-US" sz="1400" dirty="0">
                <a:solidFill>
                  <a:schemeClr val="tx2"/>
                </a:solidFill>
              </a:rPr>
              <a:t>hand-written answers in different phrasing, scored separately</a:t>
            </a:r>
            <a:endParaRPr lang="en-US" sz="1400" dirty="0"/>
          </a:p>
        </p:txBody>
      </p:sp>
      <p:sp>
        <p:nvSpPr>
          <p:cNvPr id="12" name="stat 3"/>
          <p:cNvSpPr/>
          <p:nvPr/>
        </p:nvSpPr>
        <p:spPr>
          <a:xfrm>
            <a:off x="9052560" y="1554480"/>
            <a:ext cx="2606040" cy="2651760"/>
          </a:xfrm>
          <a:prstGeom prst="roundRect">
            <a:avLst>
              <a:gd name="adj" fmla="val 4211"/>
            </a:avLst>
          </a:prstGeom>
          <a:solidFill>
            <a:schemeClr val="bg2"/>
          </a:solidFill>
          <a:ln w="9525">
            <a:solidFill>
              <a:schemeClr val="bg2"/>
            </a:solidFill>
            <a:prstDash val="solid"/>
          </a:ln>
        </p:spPr>
      </p:sp>
      <p:sp>
        <p:nvSpPr>
          <p:cNvPr id="13" name="Text 11"/>
          <p:cNvSpPr txBox="1"/>
          <p:nvPr/>
        </p:nvSpPr>
        <p:spPr>
          <a:xfrm>
            <a:off x="9281160" y="1783080"/>
            <a:ext cx="2194560" cy="914400"/>
          </a:xfrm>
          <a:prstGeom prst="rect">
            <a:avLst/>
          </a:prstGeom>
          <a:noFill/>
          <a:ln/>
        </p:spPr>
        <p:txBody>
          <a:bodyPr wrap="square" lIns="0" tIns="0" rIns="0" bIns="0" rtlCol="0" anchor="t"/>
          <a:lstStyle/>
          <a:p>
            <a:pPr indent="0" marL="0">
              <a:buNone/>
            </a:pPr>
            <a:r>
              <a:rPr lang="en-US" sz="4800" b="1" dirty="0">
                <a:solidFill>
                  <a:schemeClr val="accent2"/>
                </a:solidFill>
              </a:rPr>
              <a:t>12</a:t>
            </a:r>
            <a:endParaRPr lang="en-US" sz="4800" dirty="0"/>
          </a:p>
        </p:txBody>
      </p:sp>
      <p:sp>
        <p:nvSpPr>
          <p:cNvPr id="14" name="Text 12"/>
          <p:cNvSpPr txBox="1"/>
          <p:nvPr/>
        </p:nvSpPr>
        <p:spPr>
          <a:xfrm>
            <a:off x="9281160" y="2788920"/>
            <a:ext cx="2194560" cy="1280160"/>
          </a:xfrm>
          <a:prstGeom prst="rect">
            <a:avLst/>
          </a:prstGeom>
          <a:noFill/>
          <a:ln/>
        </p:spPr>
        <p:txBody>
          <a:bodyPr wrap="square" lIns="0" tIns="0" rIns="0" bIns="0" rtlCol="0" anchor="t"/>
          <a:lstStyle/>
          <a:p>
            <a:pPr indent="0" marL="0">
              <a:buNone/>
            </a:pPr>
            <a:r>
              <a:rPr lang="en-US" sz="1400" dirty="0">
                <a:solidFill>
                  <a:schemeClr val="tx2"/>
                </a:solidFill>
              </a:rPr>
              <a:t>leave-one-misconception-out retrains, to test truly unseen mistakes</a:t>
            </a:r>
            <a:endParaRPr lang="en-US" sz="1400" dirty="0"/>
          </a:p>
        </p:txBody>
      </p:sp>
      <p:sp>
        <p:nvSpPr>
          <p:cNvPr id="15" name="provenance"/>
          <p:cNvSpPr/>
          <p:nvPr/>
        </p:nvSpPr>
        <p:spPr>
          <a:xfrm>
            <a:off x="548640" y="4526280"/>
            <a:ext cx="11064240" cy="1600200"/>
          </a:xfrm>
          <a:prstGeom prst="roundRect">
            <a:avLst>
              <a:gd name="adj" fmla="val 6857"/>
            </a:avLst>
          </a:prstGeom>
          <a:solidFill>
            <a:schemeClr val="bg2"/>
          </a:solidFill>
          <a:ln w="9525">
            <a:solidFill>
              <a:schemeClr val="bg2"/>
            </a:solidFill>
            <a:prstDash val="solid"/>
          </a:ln>
        </p:spPr>
      </p:sp>
      <p:sp>
        <p:nvSpPr>
          <p:cNvPr id="16" name="Text 14"/>
          <p:cNvSpPr txBox="1"/>
          <p:nvPr/>
        </p:nvSpPr>
        <p:spPr>
          <a:xfrm>
            <a:off x="822960" y="4663440"/>
            <a:ext cx="10607040" cy="1325880"/>
          </a:xfrm>
          <a:prstGeom prst="rect">
            <a:avLst/>
          </a:prstGeom>
          <a:noFill/>
          <a:ln/>
        </p:spPr>
        <p:txBody>
          <a:bodyPr wrap="square" lIns="0" tIns="0" rIns="0" bIns="0" rtlCol="0" anchor="ctr"/>
          <a:lstStyle/>
          <a:p>
            <a:pPr indent="0" marL="0">
              <a:buNone/>
            </a:pPr>
            <a:r>
              <a:rPr lang="en-US" sz="1500" b="1" dirty="0">
                <a:solidFill>
                  <a:schemeClr val="accent4"/>
                </a:solidFill>
              </a:rPr>
              <a:t>Honest about provenance. </a:t>
            </a:r>
            <a:pPr indent="0" marL="0">
              <a:buNone/>
            </a:pPr>
            <a:r>
              <a:rPr lang="en-US" sz="1500" dirty="0">
                <a:solidFill>
                  <a:schemeClr val="tx1"/>
                </a:solidFill>
              </a:rPr>
              <a:t>All training data is synthetic, generated from 48 hand-written templates whose wrong answers and reasoning encode each misconception. Splits are by template, so test questions have new scenarios and numbers. The hand-written answers and explanations were written by the team, not collected from students.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Diagnosis: the embedding model handles new phrasing better</a:t>
            </a:r>
            <a:endParaRPr lang="en-US" sz="3000" dirty="0"/>
          </a:p>
        </p:txBody>
      </p:sp>
      <p:graphicFrame>
        <p:nvGraphicFramePr>
          <p:cNvPr id="3" name="Chart 0" descr=""/>
          <p:cNvGraphicFramePr/>
          <p:nvPr/>
        </p:nvGraphicFramePr>
        <p:xfrm>
          <a:off x="548640" y="1371600"/>
          <a:ext cx="6675120" cy="4754880"/>
        </p:xfrm>
        <a:graphic xmlns:a="http://schemas.openxmlformats.org/drawingml/2006/main">
          <a:graphicData uri="http://schemas.openxmlformats.org/drawingml/2006/chart">
            <c:chart xmlns:c="http://schemas.openxmlformats.org/drawingml/2006/chart" r:id="rId1"/>
          </a:graphicData>
        </a:graphic>
      </p:graphicFrame>
      <p:sp>
        <p:nvSpPr>
          <p:cNvPr id="4" name="results commentary"/>
          <p:cNvSpPr/>
          <p:nvPr/>
        </p:nvSpPr>
        <p:spPr>
          <a:xfrm>
            <a:off x="7589520" y="1463040"/>
            <a:ext cx="4023360" cy="4572000"/>
          </a:xfrm>
          <a:prstGeom prst="roundRect">
            <a:avLst>
              <a:gd name="adj" fmla="val 2727"/>
            </a:avLst>
          </a:prstGeom>
          <a:solidFill>
            <a:schemeClr val="bg2"/>
          </a:solidFill>
          <a:ln w="9525">
            <a:solidFill>
              <a:schemeClr val="bg2"/>
            </a:solidFill>
            <a:prstDash val="solid"/>
          </a:ln>
        </p:spPr>
      </p:sp>
      <p:sp>
        <p:nvSpPr>
          <p:cNvPr id="5" name="Text 2"/>
          <p:cNvSpPr txBox="1"/>
          <p:nvPr/>
        </p:nvSpPr>
        <p:spPr>
          <a:xfrm>
            <a:off x="7818120" y="1691640"/>
            <a:ext cx="3566160" cy="4206240"/>
          </a:xfrm>
          <a:prstGeom prst="rect">
            <a:avLst/>
          </a:prstGeom>
          <a:noFill/>
          <a:ln/>
        </p:spPr>
        <p:txBody>
          <a:bodyPr wrap="square" lIns="0" tIns="0" rIns="0" bIns="0" rtlCol="0" anchor="t"/>
          <a:lstStyle/>
          <a:p>
            <a:pPr indent="0" marL="0">
              <a:buNone/>
            </a:pPr>
            <a:r>
              <a:rPr lang="en-US" sz="4400" b="1" dirty="0">
                <a:solidFill>
                  <a:schemeClr val="accent2"/>
                </a:solidFill>
              </a:rPr>
              <a:t>0.83</a:t>
            </a:r>
            <a:endParaRPr lang="en-US" sz="1500" dirty="0"/>
          </a:p>
          <a:p>
            <a:pPr indent="0" marL="0">
              <a:buNone/>
            </a:pPr>
            <a:r>
              <a:rPr lang="en-US" sz="1400" dirty="0">
                <a:solidFill>
                  <a:schemeClr val="tx2"/>
                </a:solidFill>
              </a:rPr>
              <a:t>macro-F1 on hand-written answers (v1), vs 0.78 for the baseline</a:t>
            </a:r>
            <a:endParaRPr lang="en-US" sz="1500" dirty="0"/>
          </a:p>
          <a:p>
            <a:pPr indent="0" marL="0">
              <a:buNone/>
            </a:pPr>
            <a:r>
              <a:rPr lang="en-US" sz="800" dirty="0">
                <a:solidFill>
                  <a:schemeClr val="tx1"/>
                </a:solidFill>
              </a:rPr>
              <a:t> </a:t>
            </a:r>
            <a:endParaRPr lang="en-US" sz="1500" dirty="0"/>
          </a:p>
          <a:p>
            <a:pPr indent="0" marL="0">
              <a:buNone/>
            </a:pPr>
            <a:r>
              <a:rPr lang="en-US" sz="1400" dirty="0">
                <a:solidFill>
                  <a:schemeClr val="tx1"/>
                </a:solidFill>
              </a:rPr>
              <a:t>Using the question's answer key as well: 0.85 (v1) and 0.87 (baseline, unseen templates).</a:t>
            </a:r>
            <a:endParaRPr lang="en-US" sz="1500" dirty="0"/>
          </a:p>
          <a:p>
            <a:pPr indent="0" marL="0">
              <a:buNone/>
            </a:pPr>
            <a:r>
              <a:rPr lang="en-US" sz="800" dirty="0">
                <a:solidFill>
                  <a:schemeClr val="tx1"/>
                </a:solidFill>
              </a:rPr>
              <a:t> </a:t>
            </a:r>
            <a:endParaRPr lang="en-US" sz="1500" dirty="0"/>
          </a:p>
          <a:p>
            <a:pPr indent="0" marL="0">
              <a:buNone/>
            </a:pPr>
            <a:r>
              <a:rPr lang="en-US" sz="1400" dirty="0">
                <a:solidFill>
                  <a:schemeClr val="accent4"/>
                </a:solidFill>
              </a:rPr>
              <a:t>v1 was chosen on validation. It is weaker on the synthetic test split, and we report that rather than hide it.</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Telling look-alikes apart: one well-chosen quick check</a:t>
            </a:r>
            <a:endParaRPr lang="en-US" sz="3000" dirty="0"/>
          </a:p>
        </p:txBody>
      </p:sp>
      <p:graphicFrame>
        <p:nvGraphicFramePr>
          <p:cNvPr id="3" name="Chart 0" descr=""/>
          <p:cNvGraphicFramePr/>
          <p:nvPr/>
        </p:nvGraphicFramePr>
        <p:xfrm>
          <a:off x="548640" y="1371600"/>
          <a:ext cx="6675120" cy="4754880"/>
        </p:xfrm>
        <a:graphic xmlns:a="http://schemas.openxmlformats.org/drawingml/2006/main">
          <a:graphicData uri="http://schemas.openxmlformats.org/drawingml/2006/chart">
            <c:chart xmlns:c="http://schemas.openxmlformats.org/drawingml/2006/chart" r:id="rId1"/>
          </a:graphicData>
        </a:graphic>
      </p:graphicFrame>
      <p:sp>
        <p:nvSpPr>
          <p:cNvPr id="4" name="probing commentary"/>
          <p:cNvSpPr/>
          <p:nvPr/>
        </p:nvSpPr>
        <p:spPr>
          <a:xfrm>
            <a:off x="7589520" y="1463040"/>
            <a:ext cx="4023360" cy="4572000"/>
          </a:xfrm>
          <a:prstGeom prst="roundRect">
            <a:avLst>
              <a:gd name="adj" fmla="val 2727"/>
            </a:avLst>
          </a:prstGeom>
          <a:solidFill>
            <a:schemeClr val="bg2"/>
          </a:solidFill>
          <a:ln w="9525">
            <a:solidFill>
              <a:schemeClr val="bg2"/>
            </a:solidFill>
            <a:prstDash val="solid"/>
          </a:ln>
        </p:spPr>
      </p:sp>
      <p:sp>
        <p:nvSpPr>
          <p:cNvPr id="5" name="Text 2"/>
          <p:cNvSpPr txBox="1"/>
          <p:nvPr/>
        </p:nvSpPr>
        <p:spPr>
          <a:xfrm>
            <a:off x="7818120" y="1691640"/>
            <a:ext cx="3566160" cy="4206240"/>
          </a:xfrm>
          <a:prstGeom prst="rect">
            <a:avLst/>
          </a:prstGeom>
          <a:noFill/>
          <a:ln/>
        </p:spPr>
        <p:txBody>
          <a:bodyPr wrap="square" lIns="0" tIns="0" rIns="0" bIns="0" rtlCol="0" anchor="t"/>
          <a:lstStyle/>
          <a:p>
            <a:pPr indent="0" marL="0">
              <a:buNone/>
            </a:pPr>
            <a:r>
              <a:rPr lang="en-US" sz="4400" b="1" dirty="0">
                <a:solidFill>
                  <a:schemeClr val="accent3"/>
                </a:solidFill>
              </a:rPr>
              <a:t>+16 pts</a:t>
            </a:r>
            <a:endParaRPr lang="en-US" sz="1500" dirty="0"/>
          </a:p>
          <a:p>
            <a:pPr indent="0" marL="0">
              <a:buNone/>
            </a:pPr>
            <a:r>
              <a:rPr lang="en-US" sz="1400" dirty="0">
                <a:solidFill>
                  <a:schemeClr val="tx2"/>
                </a:solidFill>
              </a:rPr>
              <a:t>accuracy on look-alike misconceptions (test) after quick checks</a:t>
            </a:r>
            <a:endParaRPr lang="en-US" sz="1500" dirty="0"/>
          </a:p>
          <a:p>
            <a:pPr indent="0" marL="0">
              <a:buNone/>
            </a:pPr>
            <a:r>
              <a:rPr lang="en-US" sz="800" dirty="0">
                <a:solidFill>
                  <a:schemeClr val="tx1"/>
                </a:solidFill>
              </a:rPr>
              <a:t> </a:t>
            </a:r>
            <a:endParaRPr lang="en-US" sz="1500" dirty="0"/>
          </a:p>
          <a:p>
            <a:pPr indent="0" marL="0">
              <a:buNone/>
            </a:pPr>
            <a:r>
              <a:rPr lang="en-US" sz="1400" dirty="0">
                <a:solidFill>
                  <a:schemeClr val="tx1"/>
                </a:solidFill>
              </a:rPr>
              <a:t>Each candidate question is scored by its expected drop in uncertainty (entropy) over the full diagnosis; the best one is asked, at most two per answer.</a:t>
            </a:r>
            <a:endParaRPr lang="en-US" sz="1500" dirty="0"/>
          </a:p>
          <a:p>
            <a:pPr indent="0" marL="0">
              <a:buNone/>
            </a:pPr>
            <a:r>
              <a:rPr lang="en-US" sz="800" dirty="0">
                <a:solidFill>
                  <a:schemeClr val="tx1"/>
                </a:solidFill>
              </a:rPr>
              <a:t> </a:t>
            </a:r>
            <a:endParaRPr lang="en-US" sz="1500" dirty="0"/>
          </a:p>
          <a:p>
            <a:pPr indent="0" marL="0">
              <a:buNone/>
            </a:pPr>
            <a:r>
              <a:rPr lang="en-US" sz="1400" dirty="0">
                <a:solidFill>
                  <a:schemeClr val="accent4"/>
                </a:solidFill>
              </a:rPr>
              <a:t>Measured with simulated learners who answer as their misconception predicts, so these are upper bounds.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Unseen misconceptions: distinct ones get flagged</a:t>
            </a:r>
            <a:endParaRPr lang="en-US" sz="3000" dirty="0"/>
          </a:p>
        </p:txBody>
      </p:sp>
      <p:graphicFrame>
        <p:nvGraphicFramePr>
          <p:cNvPr id="3" name="Chart 0" descr=""/>
          <p:cNvGraphicFramePr/>
          <p:nvPr/>
        </p:nvGraphicFramePr>
        <p:xfrm>
          <a:off x="548640" y="1371600"/>
          <a:ext cx="7315200" cy="4754880"/>
        </p:xfrm>
        <a:graphic xmlns:a="http://schemas.openxmlformats.org/drawingml/2006/main">
          <a:graphicData uri="http://schemas.openxmlformats.org/drawingml/2006/chart">
            <c:chart xmlns:c="http://schemas.openxmlformats.org/drawingml/2006/chart" r:id="rId1"/>
          </a:graphicData>
        </a:graphic>
      </p:graphicFrame>
      <p:sp>
        <p:nvSpPr>
          <p:cNvPr id="4" name="open set commentary"/>
          <p:cNvSpPr/>
          <p:nvPr/>
        </p:nvSpPr>
        <p:spPr>
          <a:xfrm>
            <a:off x="8183880" y="1463040"/>
            <a:ext cx="3429000" cy="4572000"/>
          </a:xfrm>
          <a:prstGeom prst="roundRect">
            <a:avLst>
              <a:gd name="adj" fmla="val 3200"/>
            </a:avLst>
          </a:prstGeom>
          <a:solidFill>
            <a:schemeClr val="bg2"/>
          </a:solidFill>
          <a:ln w="9525">
            <a:solidFill>
              <a:schemeClr val="bg2"/>
            </a:solidFill>
            <a:prstDash val="solid"/>
          </a:ln>
        </p:spPr>
      </p:sp>
      <p:sp>
        <p:nvSpPr>
          <p:cNvPr id="5" name="Text 2"/>
          <p:cNvSpPr txBox="1"/>
          <p:nvPr/>
        </p:nvSpPr>
        <p:spPr>
          <a:xfrm>
            <a:off x="8412480" y="1691640"/>
            <a:ext cx="3017520" cy="4206240"/>
          </a:xfrm>
          <a:prstGeom prst="rect">
            <a:avLst/>
          </a:prstGeom>
          <a:noFill/>
          <a:ln/>
        </p:spPr>
        <p:txBody>
          <a:bodyPr wrap="square" lIns="0" tIns="0" rIns="0" bIns="0" rtlCol="0" anchor="t"/>
          <a:lstStyle/>
          <a:p>
            <a:pPr indent="0" marL="0">
              <a:buNone/>
            </a:pPr>
            <a:r>
              <a:rPr lang="en-US" sz="4400" b="1" dirty="0">
                <a:solidFill>
                  <a:schemeClr val="accent2"/>
                </a:solidFill>
              </a:rPr>
              <a:t>0.71</a:t>
            </a:r>
            <a:endParaRPr lang="en-US" sz="1500" dirty="0"/>
          </a:p>
          <a:p>
            <a:pPr indent="0" marL="0">
              <a:buNone/>
            </a:pPr>
            <a:r>
              <a:rPr lang="en-US" sz="1300" dirty="0">
                <a:solidFill>
                  <a:schemeClr val="tx2"/>
                </a:solidFill>
              </a:rPr>
              <a:t>overall test AUROC; flags 63.5% of unseen-misconception answers at a 28.2% false-flag rate</a:t>
            </a:r>
            <a:endParaRPr lang="en-US" sz="1500" dirty="0"/>
          </a:p>
          <a:p>
            <a:pPr indent="0" marL="0">
              <a:buNone/>
            </a:pPr>
            <a:r>
              <a:rPr lang="en-US" sz="800" dirty="0">
                <a:solidFill>
                  <a:schemeClr val="tx1"/>
                </a:solidFill>
              </a:rPr>
              <a:t> </a:t>
            </a:r>
            <a:endParaRPr lang="en-US" sz="1500" dirty="0"/>
          </a:p>
          <a:p>
            <a:pPr indent="0" marL="0">
              <a:buNone/>
            </a:pPr>
            <a:r>
              <a:rPr lang="en-US" sz="1300" dirty="0">
                <a:solidFill>
                  <a:schemeClr val="tx1"/>
                </a:solidFill>
              </a:rPr>
              <a:t>An unseen idea that resembles a known one is mistaken for it: M03 is read as M04, and M06 as M07.</a:t>
            </a:r>
            <a:endParaRPr lang="en-US" sz="1500" dirty="0"/>
          </a:p>
          <a:p>
            <a:pPr indent="0" marL="0">
              <a:buNone/>
            </a:pPr>
            <a:r>
              <a:rPr lang="en-US" sz="800" dirty="0">
                <a:solidFill>
                  <a:schemeClr val="tx1"/>
                </a:solidFill>
              </a:rPr>
              <a:t> </a:t>
            </a:r>
            <a:endParaRPr lang="en-US" sz="1500" dirty="0"/>
          </a:p>
          <a:p>
            <a:pPr indent="0" marL="0">
              <a:buNone/>
            </a:pPr>
            <a:r>
              <a:rPr lang="en-US" sz="1300" dirty="0">
                <a:solidFill>
                  <a:schemeClr val="accent3"/>
                </a:solidFill>
              </a:rPr>
              <a:t>So unfamiliar mistakes go to a teacher review queue, never to the student.</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Multimodal teaching that learns which mode works</a:t>
            </a:r>
            <a:endParaRPr lang="en-US" sz="3000" dirty="0"/>
          </a:p>
        </p:txBody>
      </p:sp>
      <p:sp>
        <p:nvSpPr>
          <p:cNvPr id="3" name="Force diagram for M01 frame"/>
          <p:cNvSpPr/>
          <p:nvPr/>
        </p:nvSpPr>
        <p:spPr>
          <a:xfrm>
            <a:off x="621792" y="1325880"/>
            <a:ext cx="3877056" cy="2560320"/>
          </a:xfrm>
          <a:prstGeom prst="roundRect">
            <a:avLst>
              <a:gd name="adj" fmla="val 2857"/>
            </a:avLst>
          </a:prstGeom>
          <a:solidFill>
            <a:schemeClr val="bg2"/>
          </a:solidFill>
          <a:ln w="12700">
            <a:solidFill>
              <a:schemeClr val="accent1"/>
            </a:solidFill>
            <a:prstDash val="solid"/>
          </a:ln>
        </p:spPr>
      </p:sp>
      <p:pic>
        <p:nvPicPr>
          <p:cNvPr id="4" name="Force diagram for M01" descr="Force diagram for M01">    </p:cNvPr>
          <p:cNvPicPr>
            <a:picLocks noChangeAspect="1"/>
          </p:cNvPicPr>
          <p:nvPr/>
        </p:nvPicPr>
        <p:blipFill>
          <a:blip r:embed="rId1"/>
          <a:stretch>
            <a:fillRect/>
          </a:stretch>
        </p:blipFill>
        <p:spPr>
          <a:xfrm>
            <a:off x="667512" y="1371600"/>
            <a:ext cx="3785616" cy="2468880"/>
          </a:xfrm>
          <a:prstGeom prst="rect">
            <a:avLst/>
          </a:prstGeom>
        </p:spPr>
      </p:pic>
      <p:sp>
        <p:nvSpPr>
          <p:cNvPr id="5" name="Puck simulation for M01 frame"/>
          <p:cNvSpPr/>
          <p:nvPr/>
        </p:nvSpPr>
        <p:spPr>
          <a:xfrm>
            <a:off x="893972" y="3931920"/>
            <a:ext cx="3332696" cy="2331720"/>
          </a:xfrm>
          <a:prstGeom prst="roundRect">
            <a:avLst>
              <a:gd name="adj" fmla="val 3137"/>
            </a:avLst>
          </a:prstGeom>
          <a:solidFill>
            <a:schemeClr val="bg2"/>
          </a:solidFill>
          <a:ln w="12700">
            <a:solidFill>
              <a:schemeClr val="accent1"/>
            </a:solidFill>
            <a:prstDash val="solid"/>
          </a:ln>
        </p:spPr>
      </p:sp>
      <p:pic>
        <p:nvPicPr>
          <p:cNvPr id="6" name="Puck simulation for M01" descr="Puck simulation for M01">    </p:cNvPr>
          <p:cNvPicPr>
            <a:picLocks noChangeAspect="1"/>
          </p:cNvPicPr>
          <p:nvPr/>
        </p:nvPicPr>
        <p:blipFill>
          <a:blip r:embed="rId2"/>
          <a:stretch>
            <a:fillRect/>
          </a:stretch>
        </p:blipFill>
        <p:spPr>
          <a:xfrm>
            <a:off x="939692" y="3977640"/>
            <a:ext cx="3241256" cy="2240280"/>
          </a:xfrm>
          <a:prstGeom prst="rect">
            <a:avLst/>
          </a:prstGeom>
        </p:spPr>
      </p:pic>
      <p:graphicFrame>
        <p:nvGraphicFramePr>
          <p:cNvPr id="7" name="Chart 0" descr=""/>
          <p:cNvGraphicFramePr/>
          <p:nvPr/>
        </p:nvGraphicFramePr>
        <p:xfrm>
          <a:off x="4937760" y="1371600"/>
          <a:ext cx="6675120" cy="3931920"/>
        </p:xfrm>
        <a:graphic xmlns:a="http://schemas.openxmlformats.org/drawingml/2006/main">
          <a:graphicData uri="http://schemas.openxmlformats.org/drawingml/2006/chart">
            <c:chart xmlns:c="http://schemas.openxmlformats.org/drawingml/2006/chart" r:id="rId3"/>
          </a:graphicData>
        </a:graphic>
      </p:graphicFrame>
      <p:sp>
        <p:nvSpPr>
          <p:cNvPr id="8" name="Text 3"/>
          <p:cNvSpPr txBox="1"/>
          <p:nvPr/>
        </p:nvSpPr>
        <p:spPr>
          <a:xfrm>
            <a:off x="4937760" y="5440680"/>
            <a:ext cx="6675120" cy="822960"/>
          </a:xfrm>
          <a:prstGeom prst="rect">
            <a:avLst/>
          </a:prstGeom>
          <a:noFill/>
          <a:ln/>
        </p:spPr>
        <p:txBody>
          <a:bodyPr wrap="square" lIns="0" tIns="0" rIns="0" bIns="0" rtlCol="0" anchor="t"/>
          <a:lstStyle/>
          <a:p>
            <a:pPr indent="0" marL="0">
              <a:buNone/>
            </a:pPr>
            <a:r>
              <a:rPr lang="en-US" sz="1300" b="1" dirty="0">
                <a:solidFill>
                  <a:schemeClr val="accent2"/>
                </a:solidFill>
              </a:rPr>
              <a:t>12 code-drawn diagrams and 7 interactive simulations. </a:t>
            </a:r>
            <a:pPr indent="0" marL="0">
              <a:buNone/>
            </a:pPr>
            <a:r>
              <a:rPr lang="en-US" sz="1300" dirty="0">
                <a:solidFill>
                  <a:schemeClr val="tx2"/>
                </a:solidFill>
              </a:rPr>
              <a:t>The adaptive policy needs 1.74 interventions on average vs 2.03 for text only. 3,000 simulated learners × 5 seeds; assumptions are in the report.</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Resolution is earned with evidence, and tracked over time</a:t>
            </a:r>
            <a:endParaRPr lang="en-US" sz="3000" dirty="0"/>
          </a:p>
        </p:txBody>
      </p:sp>
      <p:sp>
        <p:nvSpPr>
          <p:cNvPr id="3" name="column Never one right answer"/>
          <p:cNvSpPr/>
          <p:nvPr/>
        </p:nvSpPr>
        <p:spPr>
          <a:xfrm>
            <a:off x="548640" y="1463040"/>
            <a:ext cx="3520440" cy="3566160"/>
          </a:xfrm>
          <a:prstGeom prst="roundRect">
            <a:avLst>
              <a:gd name="adj" fmla="val 3117"/>
            </a:avLst>
          </a:prstGeom>
          <a:solidFill>
            <a:schemeClr val="bg2"/>
          </a:solidFill>
          <a:ln w="9525">
            <a:solidFill>
              <a:schemeClr val="bg2"/>
            </a:solidFill>
            <a:prstDash val="solid"/>
          </a:ln>
        </p:spPr>
      </p:sp>
      <p:sp>
        <p:nvSpPr>
          <p:cNvPr id="4" name="column badge 0"/>
          <p:cNvSpPr/>
          <p:nvPr/>
        </p:nvSpPr>
        <p:spPr>
          <a:xfrm>
            <a:off x="777240" y="169164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77240" y="1691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417320" y="1737360"/>
            <a:ext cx="2514600" cy="411480"/>
          </a:xfrm>
          <a:prstGeom prst="rect">
            <a:avLst/>
          </a:prstGeom>
          <a:noFill/>
          <a:ln/>
        </p:spPr>
        <p:txBody>
          <a:bodyPr wrap="square" lIns="0" tIns="0" rIns="0" bIns="0" rtlCol="0" anchor="t"/>
          <a:lstStyle/>
          <a:p>
            <a:pPr indent="0" marL="0">
              <a:buNone/>
            </a:pPr>
            <a:r>
              <a:rPr lang="en-US" sz="1800" b="1" dirty="0">
                <a:solidFill>
                  <a:schemeClr val="tx1"/>
                </a:solidFill>
              </a:rPr>
              <a:t>Never one right answer</a:t>
            </a:r>
            <a:endParaRPr lang="en-US" sz="1800" dirty="0"/>
          </a:p>
        </p:txBody>
      </p:sp>
      <p:sp>
        <p:nvSpPr>
          <p:cNvPr id="7" name="Text 5"/>
          <p:cNvSpPr txBox="1"/>
          <p:nvPr/>
        </p:nvSpPr>
        <p:spPr>
          <a:xfrm>
            <a:off x="777240" y="2423160"/>
            <a:ext cx="310896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Resolved only after ≥2 of 3 transfer questions</a:t>
            </a:r>
            <a:endParaRPr lang="en-US" sz="1400" dirty="0"/>
          </a:p>
          <a:p>
            <a:pPr marL="342900" indent="-342900">
              <a:spcAft>
                <a:spcPts val="800"/>
              </a:spcAft>
              <a:buSzPct val="100000"/>
              <a:buChar char="•"/>
            </a:pPr>
            <a:r>
              <a:rPr lang="en-US" sz="1400" dirty="0">
                <a:solidFill>
                  <a:schemeClr val="tx2"/>
                </a:solidFill>
              </a:rPr>
              <a:t>plus a trap question aimed at the old idea</a:t>
            </a:r>
            <a:endParaRPr lang="en-US" sz="1400" dirty="0"/>
          </a:p>
          <a:p>
            <a:pPr marL="342900" indent="-342900">
              <a:spcAft>
                <a:spcPts val="800"/>
              </a:spcAft>
              <a:buSzPct val="100000"/>
              <a:buChar char="•"/>
            </a:pPr>
            <a:r>
              <a:rPr lang="en-US" sz="1400" dirty="0">
                <a:solidFill>
                  <a:schemeClr val="tx2"/>
                </a:solidFill>
              </a:rPr>
              <a:t>plus a delayed retest a few questions later</a:t>
            </a:r>
            <a:endParaRPr lang="en-US" sz="1400" dirty="0"/>
          </a:p>
          <a:p>
            <a:pPr marL="342900" indent="-342900">
              <a:spcAft>
                <a:spcPts val="800"/>
              </a:spcAft>
              <a:buSzPct val="100000"/>
              <a:buChar char="•"/>
            </a:pPr>
            <a:r>
              <a:rPr lang="en-US" sz="1400" dirty="0">
                <a:solidFill>
                  <a:schemeClr val="tx2"/>
                </a:solidFill>
              </a:rPr>
              <a:t>"Pass the first follow-up, fail the trap → not resolved" is a permanent test</a:t>
            </a:r>
            <a:endParaRPr lang="en-US" sz="1400" dirty="0"/>
          </a:p>
        </p:txBody>
      </p:sp>
      <p:sp>
        <p:nvSpPr>
          <p:cNvPr id="8" name="column Explain it back"/>
          <p:cNvSpPr/>
          <p:nvPr/>
        </p:nvSpPr>
        <p:spPr>
          <a:xfrm>
            <a:off x="4297680" y="1463040"/>
            <a:ext cx="3520440" cy="3566160"/>
          </a:xfrm>
          <a:prstGeom prst="roundRect">
            <a:avLst>
              <a:gd name="adj" fmla="val 3117"/>
            </a:avLst>
          </a:prstGeom>
          <a:solidFill>
            <a:schemeClr val="bg2"/>
          </a:solidFill>
          <a:ln w="9525">
            <a:solidFill>
              <a:schemeClr val="bg2"/>
            </a:solidFill>
            <a:prstDash val="solid"/>
          </a:ln>
        </p:spPr>
      </p:sp>
      <p:sp>
        <p:nvSpPr>
          <p:cNvPr id="9" name="column badge 1"/>
          <p:cNvSpPr/>
          <p:nvPr/>
        </p:nvSpPr>
        <p:spPr>
          <a:xfrm>
            <a:off x="4526280" y="1691640"/>
            <a:ext cx="502920" cy="502920"/>
          </a:xfrm>
          <a:prstGeom prst="ellipse">
            <a:avLst/>
          </a:prstGeom>
          <a:solidFill>
            <a:schemeClr val="accent3"/>
          </a:solidFill>
          <a:ln w="12700">
            <a:solidFill>
              <a:schemeClr val="accent3"/>
            </a:solidFill>
            <a:prstDash val="solid"/>
          </a:ln>
        </p:spPr>
      </p:sp>
      <p:sp>
        <p:nvSpPr>
          <p:cNvPr id="10" name="Text 8"/>
          <p:cNvSpPr txBox="1"/>
          <p:nvPr/>
        </p:nvSpPr>
        <p:spPr>
          <a:xfrm>
            <a:off x="4526280" y="1691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5166360" y="1737360"/>
            <a:ext cx="2514600" cy="411480"/>
          </a:xfrm>
          <a:prstGeom prst="rect">
            <a:avLst/>
          </a:prstGeom>
          <a:noFill/>
          <a:ln/>
        </p:spPr>
        <p:txBody>
          <a:bodyPr wrap="square" lIns="0" tIns="0" rIns="0" bIns="0" rtlCol="0" anchor="t"/>
          <a:lstStyle/>
          <a:p>
            <a:pPr indent="0" marL="0">
              <a:buNone/>
            </a:pPr>
            <a:r>
              <a:rPr lang="en-US" sz="1800" b="1" dirty="0">
                <a:solidFill>
                  <a:schemeClr val="tx1"/>
                </a:solidFill>
              </a:rPr>
              <a:t>Explain it back</a:t>
            </a:r>
            <a:endParaRPr lang="en-US" sz="1800" dirty="0"/>
          </a:p>
        </p:txBody>
      </p:sp>
      <p:sp>
        <p:nvSpPr>
          <p:cNvPr id="12" name="Text 10"/>
          <p:cNvSpPr txBox="1"/>
          <p:nvPr/>
        </p:nvSpPr>
        <p:spPr>
          <a:xfrm>
            <a:off x="4526280" y="2423160"/>
            <a:ext cx="310896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11 of 12 misconception-holding explanations are not cleared</a:t>
            </a:r>
            <a:endParaRPr lang="en-US" sz="1400" dirty="0"/>
          </a:p>
          <a:p>
            <a:pPr marL="342900" indent="-342900">
              <a:spcAft>
                <a:spcPts val="800"/>
              </a:spcAft>
              <a:buSzPct val="100000"/>
              <a:buChar char="•"/>
            </a:pPr>
            <a:r>
              <a:rPr lang="en-US" sz="1400" dirty="0">
                <a:solidFill>
                  <a:schemeClr val="tx2"/>
                </a:solidFill>
              </a:rPr>
              <a:t>9 of 12 sound explanations are accepted</a:t>
            </a:r>
            <a:endParaRPr lang="en-US" sz="1400" dirty="0"/>
          </a:p>
          <a:p>
            <a:pPr marL="342900" indent="-342900">
              <a:spcAft>
                <a:spcPts val="800"/>
              </a:spcAft>
              <a:buSzPct val="100000"/>
              <a:buChar char="•"/>
            </a:pPr>
            <a:r>
              <a:rPr lang="en-US" sz="1400" dirty="0">
                <a:solidFill>
                  <a:schemeClr val="tx2"/>
                </a:solidFill>
              </a:rPr>
              <a:t>A second, independent signal of understanding (24 hand-written explanations)</a:t>
            </a:r>
            <a:endParaRPr lang="en-US" sz="1400" dirty="0"/>
          </a:p>
        </p:txBody>
      </p:sp>
      <p:sp>
        <p:nvSpPr>
          <p:cNvPr id="13" name="column Learner model"/>
          <p:cNvSpPr/>
          <p:nvPr/>
        </p:nvSpPr>
        <p:spPr>
          <a:xfrm>
            <a:off x="8046720" y="1463040"/>
            <a:ext cx="3520440" cy="3566160"/>
          </a:xfrm>
          <a:prstGeom prst="roundRect">
            <a:avLst>
              <a:gd name="adj" fmla="val 3117"/>
            </a:avLst>
          </a:prstGeom>
          <a:solidFill>
            <a:schemeClr val="bg2"/>
          </a:solidFill>
          <a:ln w="9525">
            <a:solidFill>
              <a:schemeClr val="bg2"/>
            </a:solidFill>
            <a:prstDash val="solid"/>
          </a:ln>
        </p:spPr>
      </p:sp>
      <p:sp>
        <p:nvSpPr>
          <p:cNvPr id="14" name="column badge 2"/>
          <p:cNvSpPr/>
          <p:nvPr/>
        </p:nvSpPr>
        <p:spPr>
          <a:xfrm>
            <a:off x="8275320" y="1691640"/>
            <a:ext cx="502920" cy="502920"/>
          </a:xfrm>
          <a:prstGeom prst="ellipse">
            <a:avLst/>
          </a:prstGeom>
          <a:solidFill>
            <a:schemeClr val="accent4"/>
          </a:solidFill>
          <a:ln w="12700">
            <a:solidFill>
              <a:schemeClr val="accent4"/>
            </a:solidFill>
            <a:prstDash val="solid"/>
          </a:ln>
        </p:spPr>
      </p:sp>
      <p:sp>
        <p:nvSpPr>
          <p:cNvPr id="15" name="Text 13"/>
          <p:cNvSpPr txBox="1"/>
          <p:nvPr/>
        </p:nvSpPr>
        <p:spPr>
          <a:xfrm>
            <a:off x="8275320" y="1691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8915400" y="1737360"/>
            <a:ext cx="2514600" cy="411480"/>
          </a:xfrm>
          <a:prstGeom prst="rect">
            <a:avLst/>
          </a:prstGeom>
          <a:noFill/>
          <a:ln/>
        </p:spPr>
        <p:txBody>
          <a:bodyPr wrap="square" lIns="0" tIns="0" rIns="0" bIns="0" rtlCol="0" anchor="t"/>
          <a:lstStyle/>
          <a:p>
            <a:pPr indent="0" marL="0">
              <a:buNone/>
            </a:pPr>
            <a:r>
              <a:rPr lang="en-US" sz="1800" b="1" dirty="0">
                <a:solidFill>
                  <a:schemeClr val="tx1"/>
                </a:solidFill>
              </a:rPr>
              <a:t>Learner model</a:t>
            </a:r>
            <a:endParaRPr lang="en-US" sz="1800" dirty="0"/>
          </a:p>
        </p:txBody>
      </p:sp>
      <p:sp>
        <p:nvSpPr>
          <p:cNvPr id="17" name="Text 15"/>
          <p:cNvSpPr txBox="1"/>
          <p:nvPr/>
        </p:nvSpPr>
        <p:spPr>
          <a:xfrm>
            <a:off x="8275320" y="2423160"/>
            <a:ext cx="310896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Per-concept Bayesian mastery, every update logged before and after</a:t>
            </a:r>
            <a:endParaRPr lang="en-US" sz="1400" dirty="0"/>
          </a:p>
          <a:p>
            <a:pPr marL="342900" indent="-342900">
              <a:spcAft>
                <a:spcPts val="800"/>
              </a:spcAft>
              <a:buSzPct val="100000"/>
              <a:buChar char="•"/>
            </a:pPr>
            <a:r>
              <a:rPr lang="en-US" sz="1400" dirty="0">
                <a:solidFill>
                  <a:schemeClr val="tx2"/>
                </a:solidFill>
              </a:rPr>
              <a:t>Misconception states: active → intervened → resolved → relapsed</a:t>
            </a:r>
            <a:endParaRPr lang="en-US" sz="1400" dirty="0"/>
          </a:p>
          <a:p>
            <a:pPr marL="342900" indent="-342900">
              <a:spcAft>
                <a:spcPts val="800"/>
              </a:spcAft>
              <a:buSzPct val="100000"/>
              <a:buChar char="•"/>
            </a:pPr>
            <a:r>
              <a:rPr lang="en-US" sz="1400" dirty="0">
                <a:solidFill>
                  <a:schemeClr val="tx2"/>
                </a:solidFill>
              </a:rPr>
              <a:t>Progress predictor AUC 0.97 (reach mastery) and 0.88 (persists), on simulated learners</a:t>
            </a:r>
            <a:endParaRPr lang="en-US" sz="1400" dirty="0"/>
          </a:p>
        </p:txBody>
      </p:sp>
      <p:sp>
        <p:nvSpPr>
          <p:cNvPr id="18" name="mastery rule"/>
          <p:cNvSpPr/>
          <p:nvPr/>
        </p:nvSpPr>
        <p:spPr>
          <a:xfrm>
            <a:off x="548640" y="5257800"/>
            <a:ext cx="11064240" cy="868680"/>
          </a:xfrm>
          <a:prstGeom prst="roundRect">
            <a:avLst>
              <a:gd name="adj" fmla="val 12632"/>
            </a:avLst>
          </a:prstGeom>
          <a:solidFill>
            <a:schemeClr val="accent1"/>
          </a:solidFill>
          <a:ln w="9525">
            <a:solidFill>
              <a:schemeClr val="bg2"/>
            </a:solidFill>
            <a:prstDash val="solid"/>
          </a:ln>
        </p:spPr>
      </p:sp>
      <p:sp>
        <p:nvSpPr>
          <p:cNvPr id="19" name="Text 17"/>
          <p:cNvSpPr txBox="1"/>
          <p:nvPr/>
        </p:nvSpPr>
        <p:spPr>
          <a:xfrm>
            <a:off x="822960" y="5257800"/>
            <a:ext cx="10607040" cy="868680"/>
          </a:xfrm>
          <a:prstGeom prst="rect">
            <a:avLst/>
          </a:prstGeom>
          <a:noFill/>
          <a:ln/>
        </p:spPr>
        <p:txBody>
          <a:bodyPr wrap="square" lIns="0" tIns="0" rIns="0" bIns="0" rtlCol="0" anchor="ctr"/>
          <a:lstStyle/>
          <a:p>
            <a:pPr indent="0" marL="0">
              <a:buNone/>
            </a:pPr>
            <a:r>
              <a:rPr lang="en-US" sz="1600" b="1" dirty="0">
                <a:solidFill>
                  <a:schemeClr val="tx1"/>
                </a:solidFill>
              </a:rPr>
              <a:t>Mastery scores set difficulty and feed dashboards, but they can never mark a misconception resolved on their own.</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Insights: every AI decision is inspectable</a:t>
            </a:r>
            <a:endParaRPr lang="en-US" sz="3000" dirty="0"/>
          </a:p>
        </p:txBody>
      </p:sp>
      <p:sp>
        <p:nvSpPr>
          <p:cNvPr id="3" name="Class misconception map screenshot frame"/>
          <p:cNvSpPr/>
          <p:nvPr/>
        </p:nvSpPr>
        <p:spPr>
          <a:xfrm>
            <a:off x="1167455" y="1325880"/>
            <a:ext cx="4248770" cy="4297680"/>
          </a:xfrm>
          <a:prstGeom prst="roundRect">
            <a:avLst>
              <a:gd name="adj" fmla="val 1722"/>
            </a:avLst>
          </a:prstGeom>
          <a:solidFill>
            <a:schemeClr val="bg2"/>
          </a:solidFill>
          <a:ln w="12700">
            <a:solidFill>
              <a:schemeClr val="accent1"/>
            </a:solidFill>
            <a:prstDash val="solid"/>
          </a:ln>
        </p:spPr>
      </p:sp>
      <p:pic>
        <p:nvPicPr>
          <p:cNvPr id="4" name="Class misconception map screenshot" descr="Class misconception map screenshot">    </p:cNvPr>
          <p:cNvPicPr>
            <a:picLocks noChangeAspect="1"/>
          </p:cNvPicPr>
          <p:nvPr/>
        </p:nvPicPr>
        <p:blipFill>
          <a:blip r:embed="rId1"/>
          <a:stretch>
            <a:fillRect/>
          </a:stretch>
        </p:blipFill>
        <p:spPr>
          <a:xfrm>
            <a:off x="1213175" y="1371600"/>
            <a:ext cx="4157330" cy="4206240"/>
          </a:xfrm>
          <a:prstGeom prst="rect">
            <a:avLst/>
          </a:prstGeom>
        </p:spPr>
      </p:pic>
      <p:sp>
        <p:nvSpPr>
          <p:cNvPr id="5" name="Decision trace screenshot frame"/>
          <p:cNvSpPr/>
          <p:nvPr/>
        </p:nvSpPr>
        <p:spPr>
          <a:xfrm>
            <a:off x="6685562" y="1325880"/>
            <a:ext cx="4505396" cy="4297680"/>
          </a:xfrm>
          <a:prstGeom prst="roundRect">
            <a:avLst>
              <a:gd name="adj" fmla="val 1702"/>
            </a:avLst>
          </a:prstGeom>
          <a:solidFill>
            <a:schemeClr val="bg2"/>
          </a:solidFill>
          <a:ln w="12700">
            <a:solidFill>
              <a:schemeClr val="accent1"/>
            </a:solidFill>
            <a:prstDash val="solid"/>
          </a:ln>
        </p:spPr>
      </p:sp>
      <p:pic>
        <p:nvPicPr>
          <p:cNvPr id="6" name="Decision trace screenshot" descr="Decision trace screenshot">    </p:cNvPr>
          <p:cNvPicPr>
            <a:picLocks noChangeAspect="1"/>
          </p:cNvPicPr>
          <p:nvPr/>
        </p:nvPicPr>
        <p:blipFill>
          <a:blip r:embed="rId2"/>
          <a:stretch>
            <a:fillRect/>
          </a:stretch>
        </p:blipFill>
        <p:spPr>
          <a:xfrm>
            <a:off x="6731282" y="1371600"/>
            <a:ext cx="4413956" cy="4206240"/>
          </a:xfrm>
          <a:prstGeom prst="rect">
            <a:avLst/>
          </a:prstGeom>
        </p:spPr>
      </p:pic>
      <p:sp>
        <p:nvSpPr>
          <p:cNvPr id="7" name="Text 3"/>
          <p:cNvSpPr txBox="1"/>
          <p:nvPr/>
        </p:nvSpPr>
        <p:spPr>
          <a:xfrm>
            <a:off x="548640" y="5715000"/>
            <a:ext cx="11064240" cy="594360"/>
          </a:xfrm>
          <a:prstGeom prst="rect">
            <a:avLst/>
          </a:prstGeom>
          <a:noFill/>
          <a:ln/>
        </p:spPr>
        <p:txBody>
          <a:bodyPr wrap="square" lIns="0" tIns="0" rIns="0" bIns="0" rtlCol="0" anchor="t"/>
          <a:lstStyle/>
          <a:p>
            <a:pPr indent="0" marL="0">
              <a:buNone/>
            </a:pPr>
            <a:r>
              <a:rPr lang="en-US" sz="1300" dirty="0">
                <a:solidFill>
                  <a:schemeClr val="tx2"/>
                </a:solidFill>
              </a:rPr>
              <a:t>Class misconception map · teacher review queue for unfamiliar mistakes · per-answer decision trace with confidence, quick-check entropy, mastery change and model explanations (TF-IDF features, nearest examples, word occlusion) · model evaluation · teaching-mode outcomes.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Limitations and what comes next</a:t>
            </a:r>
            <a:endParaRPr lang="en-US" sz="3000" dirty="0"/>
          </a:p>
        </p:txBody>
      </p:sp>
      <p:sp>
        <p:nvSpPr>
          <p:cNvPr id="3" name="limitations"/>
          <p:cNvSpPr/>
          <p:nvPr/>
        </p:nvSpPr>
        <p:spPr>
          <a:xfrm>
            <a:off x="548640" y="1463040"/>
            <a:ext cx="5394960" cy="3566160"/>
          </a:xfrm>
          <a:prstGeom prst="roundRect">
            <a:avLst>
              <a:gd name="adj" fmla="val 3077"/>
            </a:avLst>
          </a:prstGeom>
          <a:solidFill>
            <a:schemeClr val="bg2"/>
          </a:solidFill>
          <a:ln w="9525">
            <a:solidFill>
              <a:schemeClr val="bg2"/>
            </a:solidFill>
            <a:prstDash val="solid"/>
          </a:ln>
        </p:spPr>
      </p:sp>
      <p:sp>
        <p:nvSpPr>
          <p:cNvPr id="4" name="next steps"/>
          <p:cNvSpPr/>
          <p:nvPr/>
        </p:nvSpPr>
        <p:spPr>
          <a:xfrm>
            <a:off x="6217920" y="1463040"/>
            <a:ext cx="5394960" cy="3566160"/>
          </a:xfrm>
          <a:prstGeom prst="roundRect">
            <a:avLst>
              <a:gd name="adj" fmla="val 3077"/>
            </a:avLst>
          </a:prstGeom>
          <a:solidFill>
            <a:schemeClr val="bg2"/>
          </a:solidFill>
          <a:ln w="9525">
            <a:solidFill>
              <a:schemeClr val="bg2"/>
            </a:solidFill>
            <a:prstDash val="solid"/>
          </a:ln>
        </p:spPr>
      </p:sp>
      <p:sp>
        <p:nvSpPr>
          <p:cNvPr id="5" name="Text 3"/>
          <p:cNvSpPr txBox="1"/>
          <p:nvPr/>
        </p:nvSpPr>
        <p:spPr>
          <a:xfrm>
            <a:off x="822960" y="1691640"/>
            <a:ext cx="4846320" cy="411480"/>
          </a:xfrm>
          <a:prstGeom prst="rect">
            <a:avLst/>
          </a:prstGeom>
          <a:noFill/>
          <a:ln/>
        </p:spPr>
        <p:txBody>
          <a:bodyPr wrap="square" lIns="0" tIns="0" rIns="0" bIns="0" rtlCol="0" anchor="t"/>
          <a:lstStyle/>
          <a:p>
            <a:pPr indent="0" marL="0">
              <a:buNone/>
            </a:pPr>
            <a:r>
              <a:rPr lang="en-US" sz="2000" b="1" dirty="0">
                <a:solidFill>
                  <a:schemeClr val="accent4"/>
                </a:solidFill>
              </a:rPr>
              <a:t>Limitations</a:t>
            </a:r>
            <a:endParaRPr lang="en-US" sz="2000" dirty="0"/>
          </a:p>
        </p:txBody>
      </p:sp>
      <p:sp>
        <p:nvSpPr>
          <p:cNvPr id="6" name="Text 4"/>
          <p:cNvSpPr txBox="1"/>
          <p:nvPr/>
        </p:nvSpPr>
        <p:spPr>
          <a:xfrm>
            <a:off x="6492240" y="1691640"/>
            <a:ext cx="4846320" cy="411480"/>
          </a:xfrm>
          <a:prstGeom prst="rect">
            <a:avLst/>
          </a:prstGeom>
          <a:noFill/>
          <a:ln/>
        </p:spPr>
        <p:txBody>
          <a:bodyPr wrap="square" lIns="0" tIns="0" rIns="0" bIns="0" rtlCol="0" anchor="t"/>
          <a:lstStyle/>
          <a:p>
            <a:pPr indent="0" marL="0">
              <a:buNone/>
            </a:pPr>
            <a:r>
              <a:rPr lang="en-US" sz="2000" b="1" dirty="0">
                <a:solidFill>
                  <a:schemeClr val="accent3"/>
                </a:solidFill>
              </a:rPr>
              <a:t>Next steps</a:t>
            </a:r>
            <a:endParaRPr lang="en-US" sz="2000" dirty="0"/>
          </a:p>
        </p:txBody>
      </p:sp>
      <p:sp>
        <p:nvSpPr>
          <p:cNvPr id="7" name="Text 5"/>
          <p:cNvSpPr txBox="1"/>
          <p:nvPr/>
        </p:nvSpPr>
        <p:spPr>
          <a:xfrm>
            <a:off x="822960" y="2240280"/>
            <a:ext cx="484632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Synthetic training data and one domain (mechanics)</a:t>
            </a:r>
            <a:endParaRPr lang="en-US" sz="1500" dirty="0"/>
          </a:p>
          <a:p>
            <a:pPr marL="342900" indent="-342900">
              <a:spcAft>
                <a:spcPts val="1000"/>
              </a:spcAft>
              <a:buSzPct val="100000"/>
              <a:buChar char="•"/>
            </a:pPr>
            <a:r>
              <a:rPr lang="en-US" sz="1500" dirty="0">
                <a:solidFill>
                  <a:schemeClr val="tx2"/>
                </a:solidFill>
              </a:rPr>
              <a:t>Quick-check, teaching-mode and progress results come from simulated learners</a:t>
            </a:r>
            <a:endParaRPr lang="en-US" sz="1500" dirty="0"/>
          </a:p>
          <a:p>
            <a:pPr marL="342900" indent="-342900">
              <a:spcAft>
                <a:spcPts val="1000"/>
              </a:spcAft>
              <a:buSzPct val="100000"/>
              <a:buChar char="•"/>
            </a:pPr>
            <a:r>
              <a:rPr lang="en-US" sz="1500" dirty="0">
                <a:solidFill>
                  <a:schemeClr val="tx2"/>
                </a:solidFill>
              </a:rPr>
              <a:t>Unseen-misconception detector still flags 28.2% of known mistakes, so it only feeds a review queue</a:t>
            </a:r>
            <a:endParaRPr lang="en-US" sz="1500" dirty="0"/>
          </a:p>
          <a:p>
            <a:pPr marL="342900" indent="-342900">
              <a:spcAft>
                <a:spcPts val="1000"/>
              </a:spcAft>
              <a:buSzPct val="100000"/>
              <a:buChar char="•"/>
            </a:pPr>
            <a:r>
              <a:rPr lang="en-US" sz="1500" dirty="0">
                <a:solidFill>
                  <a:schemeClr val="tx2"/>
                </a:solidFill>
              </a:rPr>
              <a:t>Explain-back evaluated on 24 hand-written explanations</a:t>
            </a:r>
            <a:endParaRPr lang="en-US" sz="1500" dirty="0"/>
          </a:p>
        </p:txBody>
      </p:sp>
      <p:sp>
        <p:nvSpPr>
          <p:cNvPr id="8" name="Text 6"/>
          <p:cNvSpPr txBox="1"/>
          <p:nvPr/>
        </p:nvSpPr>
        <p:spPr>
          <a:xfrm>
            <a:off x="6492240" y="2240280"/>
            <a:ext cx="484632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Classroom pilot to collect real answers and reasoning</a:t>
            </a:r>
            <a:endParaRPr lang="en-US" sz="1500" dirty="0"/>
          </a:p>
          <a:p>
            <a:pPr marL="342900" indent="-342900">
              <a:spcAft>
                <a:spcPts val="1000"/>
              </a:spcAft>
              <a:buSzPct val="100000"/>
              <a:buChar char="•"/>
            </a:pPr>
            <a:r>
              <a:rPr lang="en-US" sz="1500" dirty="0">
                <a:solidFill>
                  <a:schemeClr val="tx2"/>
                </a:solidFill>
              </a:rPr>
              <a:t>Fine-tune a larger model on real data; recalibrate thresholds</a:t>
            </a:r>
            <a:endParaRPr lang="en-US" sz="1500" dirty="0"/>
          </a:p>
          <a:p>
            <a:pPr marL="342900" indent="-342900">
              <a:spcAft>
                <a:spcPts val="1000"/>
              </a:spcAft>
              <a:buSzPct val="100000"/>
              <a:buChar char="•"/>
            </a:pPr>
            <a:r>
              <a:rPr lang="en-US" sz="1500" dirty="0">
                <a:solidFill>
                  <a:schemeClr val="tx2"/>
                </a:solidFill>
              </a:rPr>
              <a:t>More subjects: algebra and introductory programming</a:t>
            </a:r>
            <a:endParaRPr lang="en-US" sz="1500" dirty="0"/>
          </a:p>
          <a:p>
            <a:pPr marL="342900" indent="-342900">
              <a:spcAft>
                <a:spcPts val="1000"/>
              </a:spcAft>
              <a:buSzPct val="100000"/>
              <a:buChar char="•"/>
            </a:pPr>
            <a:r>
              <a:rPr lang="en-US" sz="1500" dirty="0">
                <a:solidFill>
                  <a:schemeClr val="tx2"/>
                </a:solidFill>
              </a:rPr>
              <a:t>Voice and handwriting input; longer-term learner modelling</a:t>
            </a:r>
            <a:endParaRPr lang="en-US" sz="1500" dirty="0"/>
          </a:p>
        </p:txBody>
      </p:sp>
      <p:sp>
        <p:nvSpPr>
          <p:cNvPr id="9" name="closing band"/>
          <p:cNvSpPr/>
          <p:nvPr/>
        </p:nvSpPr>
        <p:spPr>
          <a:xfrm>
            <a:off x="548640" y="5257800"/>
            <a:ext cx="11064240" cy="868680"/>
          </a:xfrm>
          <a:prstGeom prst="roundRect">
            <a:avLst>
              <a:gd name="adj" fmla="val 12632"/>
            </a:avLst>
          </a:prstGeom>
          <a:solidFill>
            <a:schemeClr val="accent1"/>
          </a:solidFill>
          <a:ln w="9525">
            <a:solidFill>
              <a:schemeClr val="bg2"/>
            </a:solidFill>
            <a:prstDash val="solid"/>
          </a:ln>
        </p:spPr>
      </p:sp>
      <p:sp>
        <p:nvSpPr>
          <p:cNvPr id="10" name="Text 8"/>
          <p:cNvSpPr txBox="1"/>
          <p:nvPr/>
        </p:nvSpPr>
        <p:spPr>
          <a:xfrm>
            <a:off x="822960" y="5257800"/>
            <a:ext cx="10607040" cy="868680"/>
          </a:xfrm>
          <a:prstGeom prst="rect">
            <a:avLst/>
          </a:prstGeom>
          <a:noFill/>
          <a:ln/>
        </p:spPr>
        <p:txBody>
          <a:bodyPr wrap="square" lIns="0" tIns="0" rIns="0" bIns="0" rtlCol="0" anchor="ctr"/>
          <a:lstStyle/>
          <a:p>
            <a:pPr indent="0" marL="0">
              <a:buNone/>
            </a:pPr>
            <a:r>
              <a:rPr lang="en-US" sz="1600" b="1" dirty="0">
                <a:solidFill>
                  <a:schemeClr val="tx1"/>
                </a:solidFill>
              </a:rPr>
              <a:t>167 automated tests · runs on a free CPU with no API key · every number here comes from reports/metrics.json</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Re:Learn Dark">
  <a:themeElements>
    <a:clrScheme name="Re:Learn Dark">
      <a:dk1>
        <a:srgbClr val="F4F2FF"/>
      </a:dk1>
      <a:lt1>
        <a:srgbClr val="0F0D1A"/>
      </a:lt1>
      <a:dk2>
        <a:srgbClr val="B9B3D1"/>
      </a:dk2>
      <a:lt2>
        <a:srgbClr val="211D33"/>
      </a:lt2>
      <a:accent1>
        <a:srgbClr val="7C5CFF"/>
      </a:accent1>
      <a:accent2>
        <a:srgbClr val="A78BFA"/>
      </a:accent2>
      <a:accent3>
        <a:srgbClr val="3DD68C"/>
      </a:accent3>
      <a:accent4>
        <a:srgbClr val="F5B544"/>
      </a:accent4>
      <a:accent5>
        <a:srgbClr val="FF6B7A"/>
      </a:accent5>
      <a:accent6>
        <a:srgbClr val="8A84A6"/>
      </a:accent6>
      <a:hlink>
        <a:srgbClr val="A78BFA"/>
      </a:hlink>
      <a:folHlink>
        <a:srgbClr val="A78BFA"/>
      </a:folHlink>
    </a:clrScheme>
    <a:fontScheme name="Re:Learn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Re:Learn</dc:title>
  <dc:subject>PptxGenJS Presentation</dc:subject>
  <dc:creator>Team GreenLarpers</dc:creator>
  <cp:lastModifiedBy>Team GreenLarpers</cp:lastModifiedBy>
  <cp:revision>1</cp:revision>
  <dcterms:created xsi:type="dcterms:W3CDTF">2026-10-03T18:24:25Z</dcterms:created>
  <dcterms:modified xsi:type="dcterms:W3CDTF">2026-10-03T18:24:25Z</dcterms:modified>
</cp:coreProperties>
</file>